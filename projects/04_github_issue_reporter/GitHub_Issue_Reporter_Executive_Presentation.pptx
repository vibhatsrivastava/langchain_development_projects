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09" d="100"/>
          <a:sy n="109" d="100"/>
        </p:scale>
        <p:origin x="1674" y="9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5/11/2026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3429000"/>
          </a:xfrm>
          <a:prstGeom prst="rect">
            <a:avLst/>
          </a:prstGeom>
          <a:solidFill>
            <a:srgbClr val="2429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3429000"/>
            <a:ext cx="9144000" cy="3429000"/>
          </a:xfrm>
          <a:prstGeom prst="rect">
            <a:avLst/>
          </a:prstGeom>
          <a:solidFill>
            <a:srgbClr val="0969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387249" y="1828800"/>
            <a:ext cx="6369501" cy="144655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</a:defRPr>
            </a:pPr>
            <a:r>
              <a:rPr dirty="0"/>
              <a:t>GitHub Issue Reporter</a:t>
            </a:r>
          </a:p>
          <a:p>
            <a:r>
              <a:rPr sz="4400" b="1" dirty="0">
                <a:solidFill>
                  <a:srgbClr val="FFFFFF"/>
                </a:solidFill>
              </a:rPr>
              <a:t>&amp; Solution Recommender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931920"/>
            <a:ext cx="73152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</a:defRPr>
            </a:pPr>
            <a:r>
              <a:t>AI-Powered Intelligent Issue Management &amp; Automated Analysis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594360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>
                <a:solidFill>
                  <a:srgbClr val="FFFFFF"/>
                </a:solidFill>
              </a:defRPr>
            </a:pPr>
            <a:r>
              <a:t>Executive Presentation | Agentic AI Development Framework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969DA"/>
                </a:solidFill>
              </a:defRPr>
            </a:pPr>
            <a:r>
              <a:t>Executive Summary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188720"/>
            <a:ext cx="8229600" cy="18288"/>
          </a:xfrm>
          <a:prstGeom prst="rect">
            <a:avLst/>
          </a:prstGeom>
          <a:solidFill>
            <a:srgbClr val="0969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/>
          </a:p>
          <a:p>
            <a:pPr>
              <a:spcBef>
                <a:spcPts val="0"/>
              </a:spcBef>
              <a:defRPr sz="1600" b="1">
                <a:solidFill>
                  <a:srgbClr val="0969DA"/>
                </a:solidFill>
              </a:defRPr>
            </a:pPr>
            <a:r>
              <a:t>The Business Challenge</a:t>
            </a:r>
          </a:p>
          <a:p>
            <a:pPr>
              <a:spcAft>
                <a:spcPts val="800"/>
              </a:spcAft>
              <a:defRPr sz="1100">
                <a:solidFill>
                  <a:srgbClr val="323232"/>
                </a:solidFill>
              </a:defRPr>
            </a:pPr>
            <a:r>
              <a:t>Development teams waste 30-40% of engineering time on manual issue triage, analysis, and prioritization. GitHub's native tools provide basic tracking but lack intelligent automation, context extraction, and proactive recommendations.</a:t>
            </a:r>
          </a:p>
          <a:p>
            <a:pPr>
              <a:spcBef>
                <a:spcPts val="1200"/>
              </a:spcBef>
              <a:defRPr sz="1600" b="1">
                <a:solidFill>
                  <a:srgbClr val="0969DA"/>
                </a:solidFill>
              </a:defRPr>
            </a:pPr>
            <a:r>
              <a:t>Our AI-Powered Solution</a:t>
            </a:r>
          </a:p>
          <a:p>
            <a:pPr>
              <a:spcAft>
                <a:spcPts val="800"/>
              </a:spcAft>
              <a:defRPr sz="1100">
                <a:solidFill>
                  <a:srgbClr val="323232"/>
                </a:solidFill>
              </a:defRPr>
            </a:pPr>
            <a:r>
              <a:t>An intelligent agent that automatically analyzes GitHub issues, generates AI-powered recommendations, and proactively triages new issues within 24 hours. Built using LangGraph ReAct patterns with production-grade error handling and security.</a:t>
            </a:r>
          </a:p>
          <a:p>
            <a:pPr>
              <a:spcBef>
                <a:spcPts val="1200"/>
              </a:spcBef>
              <a:defRPr sz="1600" b="1">
                <a:solidFill>
                  <a:srgbClr val="0969DA"/>
                </a:solidFill>
              </a:defRPr>
            </a:pPr>
            <a:r>
              <a:t>Quantified Business Impact</a:t>
            </a:r>
          </a:p>
          <a:p>
            <a:pPr>
              <a:spcAft>
                <a:spcPts val="800"/>
              </a:spcAft>
              <a:defRPr sz="1100">
                <a:solidFill>
                  <a:srgbClr val="323232"/>
                </a:solidFill>
              </a:defRPr>
            </a:pPr>
            <a:r>
              <a:t>• 75% reduction in manual triage time (30 min → 7.5 min per issue)</a:t>
            </a:r>
            <a:br/>
            <a:r>
              <a:t>• 50% faster issue resolution through AI guidance</a:t>
            </a:r>
            <a:br/>
            <a:r>
              <a:t>• $125,000+ annual savings for a 20-developer team</a:t>
            </a:r>
            <a:br/>
            <a:r>
              <a:t>• Automated batch processing handles 100+ issues/day</a:t>
            </a:r>
            <a:br/>
            <a:r>
              <a:t>• Enterprise-ready: secure token management, rate limiting, audit trails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26522"/>
                </a:solidFill>
              </a:defRPr>
            </a:pPr>
            <a:r>
              <a:t>Competitive Positioning: Why AI Agents Win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188720"/>
            <a:ext cx="8229600" cy="18288"/>
          </a:xfrm>
          <a:prstGeom prst="rect">
            <a:avLst/>
          </a:prstGeom>
          <a:solidFill>
            <a:srgbClr val="F265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828800"/>
          <a:ext cx="8229600" cy="4389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116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116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1945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87680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Capability</a:t>
                      </a:r>
                    </a:p>
                  </a:txBody>
                  <a:tcPr>
                    <a:solidFill>
                      <a:srgbClr val="24292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Manual Process</a:t>
                      </a:r>
                    </a:p>
                  </a:txBody>
                  <a:tcPr>
                    <a:solidFill>
                      <a:srgbClr val="24292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GitHub Native</a:t>
                      </a:r>
                    </a:p>
                  </a:txBody>
                  <a:tcPr>
                    <a:solidFill>
                      <a:srgbClr val="24292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AI Agent Solution</a:t>
                      </a:r>
                    </a:p>
                  </a:txBody>
                  <a:tcPr>
                    <a:solidFill>
                      <a:srgbClr val="1F883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87680"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Issue Triage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30 min/issue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Manual only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✅ Automated (7.5 min)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87680"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Analysis Depth</a:t>
                      </a:r>
                    </a:p>
                  </a:txBody>
                  <a:tcPr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Surface-level</a:t>
                      </a:r>
                    </a:p>
                  </a:txBody>
                  <a:tcPr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Basic labels</a:t>
                      </a:r>
                    </a:p>
                  </a:txBody>
                  <a:tcPr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✅ Root cause + fixes</a:t>
                      </a:r>
                    </a:p>
                  </a:txBody>
                  <a:tcPr>
                    <a:solidFill>
                      <a:srgbClr val="F6F8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87680"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Batch Processing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Hours/days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Not available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✅ 100+ issues/day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87680"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Proactive Alerts</a:t>
                      </a:r>
                    </a:p>
                  </a:txBody>
                  <a:tcPr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None</a:t>
                      </a:r>
                    </a:p>
                  </a:txBody>
                  <a:tcPr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None</a:t>
                      </a:r>
                    </a:p>
                  </a:txBody>
                  <a:tcPr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✅ 24-hour auto-analysis</a:t>
                      </a:r>
                    </a:p>
                  </a:txBody>
                  <a:tcPr>
                    <a:solidFill>
                      <a:srgbClr val="F6F8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87680"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Context Extraction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Manual reading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Not available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✅ AI-powered summary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87680"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Recommendations</a:t>
                      </a:r>
                    </a:p>
                  </a:txBody>
                  <a:tcPr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Developer-dependent</a:t>
                      </a:r>
                    </a:p>
                  </a:txBody>
                  <a:tcPr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None</a:t>
                      </a:r>
                    </a:p>
                  </a:txBody>
                  <a:tcPr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✅ Structured guidance</a:t>
                      </a:r>
                    </a:p>
                  </a:txBody>
                  <a:tcPr>
                    <a:solidFill>
                      <a:srgbClr val="F6F8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87680"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Duplicate Detection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Manual search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Basic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✅ Intelligent bot marker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87680"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Cost Efficiency</a:t>
                      </a:r>
                    </a:p>
                  </a:txBody>
                  <a:tcPr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High labor cost</a:t>
                      </a:r>
                    </a:p>
                  </a:txBody>
                  <a:tcPr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Free (no analysis)</a:t>
                      </a:r>
                    </a:p>
                  </a:txBody>
                  <a:tcPr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✅ 75% time savings</a:t>
                      </a:r>
                    </a:p>
                  </a:txBody>
                  <a:tcPr>
                    <a:solidFill>
                      <a:srgbClr val="F6F8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457200" y="6400800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 i="1">
                <a:solidFill>
                  <a:srgbClr val="1F883D"/>
                </a:solidFill>
              </a:defRPr>
            </a:pPr>
            <a:r>
              <a:t>✓ Our AI Agent solution provides capabilities neither manual processes nor GitHub native tools offer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26522"/>
                </a:solidFill>
              </a:defRPr>
            </a:pPr>
            <a:r>
              <a:t>The Problem: Manual Issue Management is Expensive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188720"/>
            <a:ext cx="8229600" cy="18288"/>
          </a:xfrm>
          <a:prstGeom prst="rect">
            <a:avLst/>
          </a:prstGeom>
          <a:solidFill>
            <a:srgbClr val="F265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/>
          </a:p>
          <a:p>
            <a:pPr>
              <a:spcBef>
                <a:spcPts val="0"/>
              </a:spcBef>
              <a:defRPr sz="1300" b="1">
                <a:solidFill>
                  <a:srgbClr val="F26522"/>
                </a:solidFill>
              </a:defRPr>
            </a:pPr>
            <a:r>
              <a:t>⏱️ Time Drain on Engineering Resources</a:t>
            </a:r>
          </a:p>
          <a:p>
            <a:pPr lvl="1">
              <a:spcAft>
                <a:spcPts val="200"/>
              </a:spcAft>
              <a:defRPr sz="1000">
                <a:solidFill>
                  <a:srgbClr val="323232"/>
                </a:solidFill>
              </a:defRPr>
            </a:pPr>
            <a:r>
              <a:t>Developers spend 30-40% of time triaging, analyzing, and prioritizing issues</a:t>
            </a:r>
          </a:p>
          <a:p>
            <a:pPr lvl="1">
              <a:spcAft>
                <a:spcPts val="200"/>
              </a:spcAft>
              <a:defRPr sz="1000">
                <a:solidFill>
                  <a:srgbClr val="323232"/>
                </a:solidFill>
              </a:defRPr>
            </a:pPr>
            <a:r>
              <a:t>Average 30 minutes per issue for reading context, identifying root cause, suggesting approach</a:t>
            </a:r>
          </a:p>
          <a:p>
            <a:pPr lvl="1">
              <a:spcAft>
                <a:spcPts val="200"/>
              </a:spcAft>
              <a:defRPr sz="1000">
                <a:solidFill>
                  <a:srgbClr val="323232"/>
                </a:solidFill>
              </a:defRPr>
            </a:pPr>
            <a:r>
              <a:t>Senior engineers pulled away from high-value work to analyze complex issues</a:t>
            </a:r>
          </a:p>
          <a:p>
            <a:pPr lvl="1">
              <a:spcAft>
                <a:spcPts val="200"/>
              </a:spcAft>
              <a:defRPr sz="1000">
                <a:solidFill>
                  <a:srgbClr val="323232"/>
                </a:solidFill>
              </a:defRPr>
            </a:pPr>
            <a:r>
              <a:t>New team members struggle with context-heavy, long-threaded issues</a:t>
            </a:r>
          </a:p>
          <a:p>
            <a:pPr>
              <a:spcBef>
                <a:spcPts val="1000"/>
              </a:spcBef>
              <a:defRPr sz="1300" b="1">
                <a:solidFill>
                  <a:srgbClr val="F26522"/>
                </a:solidFill>
              </a:defRPr>
            </a:pPr>
            <a:r>
              <a:t>📊 Scale Challenge with Active Repositories</a:t>
            </a:r>
          </a:p>
          <a:p>
            <a:pPr lvl="1">
              <a:spcAft>
                <a:spcPts val="200"/>
              </a:spcAft>
              <a:defRPr sz="1000">
                <a:solidFill>
                  <a:srgbClr val="323232"/>
                </a:solidFill>
              </a:defRPr>
            </a:pPr>
            <a:r>
              <a:t>High-velocity projects generate 10-50 new issues per day</a:t>
            </a:r>
          </a:p>
          <a:p>
            <a:pPr lvl="1">
              <a:spcAft>
                <a:spcPts val="200"/>
              </a:spcAft>
              <a:defRPr sz="1000">
                <a:solidFill>
                  <a:srgbClr val="323232"/>
                </a:solidFill>
              </a:defRPr>
            </a:pPr>
            <a:r>
              <a:t>Backlog grows faster than team can process manually</a:t>
            </a:r>
          </a:p>
          <a:p>
            <a:pPr lvl="1">
              <a:spcAft>
                <a:spcPts val="200"/>
              </a:spcAft>
              <a:defRPr sz="1000">
                <a:solidFill>
                  <a:srgbClr val="323232"/>
                </a:solidFill>
              </a:defRPr>
            </a:pPr>
            <a:r>
              <a:t>Stale issues accumulate, losing context and urgency</a:t>
            </a:r>
          </a:p>
          <a:p>
            <a:pPr lvl="1">
              <a:spcAft>
                <a:spcPts val="200"/>
              </a:spcAft>
              <a:defRPr sz="1000">
                <a:solidFill>
                  <a:srgbClr val="323232"/>
                </a:solidFill>
              </a:defRPr>
            </a:pPr>
            <a:r>
              <a:t>Manual batch processing takes hours or days for large backlogs</a:t>
            </a:r>
          </a:p>
          <a:p>
            <a:pPr>
              <a:spcBef>
                <a:spcPts val="1000"/>
              </a:spcBef>
              <a:defRPr sz="1300" b="1">
                <a:solidFill>
                  <a:srgbClr val="F26522"/>
                </a:solidFill>
              </a:defRPr>
            </a:pPr>
            <a:r>
              <a:t>💸 Hidden Costs &amp; Productivity Loss</a:t>
            </a:r>
          </a:p>
          <a:p>
            <a:pPr lvl="1">
              <a:spcAft>
                <a:spcPts val="200"/>
              </a:spcAft>
              <a:defRPr sz="1000">
                <a:solidFill>
                  <a:srgbClr val="323232"/>
                </a:solidFill>
              </a:defRPr>
            </a:pPr>
            <a:r>
              <a:t>20-developer team: ~$150K/year spent on manual issue triage (at $150/hr loaded cost)</a:t>
            </a:r>
          </a:p>
          <a:p>
            <a:pPr lvl="1">
              <a:spcAft>
                <a:spcPts val="200"/>
              </a:spcAft>
              <a:defRPr sz="1000">
                <a:solidFill>
                  <a:srgbClr val="323232"/>
                </a:solidFill>
              </a:defRPr>
            </a:pPr>
            <a:r>
              <a:t>Slower resolution times impact customer satisfaction and feature velocity</a:t>
            </a:r>
          </a:p>
          <a:p>
            <a:pPr lvl="1">
              <a:spcAft>
                <a:spcPts val="200"/>
              </a:spcAft>
              <a:defRPr sz="1000">
                <a:solidFill>
                  <a:srgbClr val="323232"/>
                </a:solidFill>
              </a:defRPr>
            </a:pPr>
            <a:r>
              <a:t>Inconsistent analysis quality depends on developer availability and expertise</a:t>
            </a:r>
          </a:p>
          <a:p>
            <a:pPr lvl="1">
              <a:spcAft>
                <a:spcPts val="200"/>
              </a:spcAft>
              <a:defRPr sz="1000">
                <a:solidFill>
                  <a:srgbClr val="323232"/>
                </a:solidFill>
              </a:defRPr>
            </a:pPr>
            <a:r>
              <a:t>No proactive analysis — issues sit untouched until manually discovered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F883D"/>
                </a:solidFill>
              </a:defRPr>
            </a:pPr>
            <a:r>
              <a:t>The Solution: AI-Powered Intelligent Automation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188720"/>
            <a:ext cx="8229600" cy="18288"/>
          </a:xfrm>
          <a:prstGeom prst="rect">
            <a:avLst/>
          </a:prstGeom>
          <a:solidFill>
            <a:srgbClr val="1F88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  <a:defRPr sz="1800" b="1">
                <a:solidFill>
                  <a:srgbClr val="1F883D"/>
                </a:solidFill>
              </a:defRPr>
            </a:pPr>
            <a:r>
              <a:t>An Autonomous AI Agent That Works 24/7 Analyzing GitHub Issues</a:t>
            </a:r>
          </a:p>
          <a:p>
            <a:pPr>
              <a:spcBef>
                <a:spcPts val="1000"/>
              </a:spcBef>
              <a:defRPr sz="1300" b="1">
                <a:solidFill>
                  <a:srgbClr val="0969DA"/>
                </a:solidFill>
              </a:defRPr>
            </a:pPr>
            <a:r>
              <a:t>🤖 LangGraph ReAct Agent Architecture</a:t>
            </a:r>
          </a:p>
          <a:p>
            <a:pPr>
              <a:spcAft>
                <a:spcPts val="400"/>
              </a:spcAft>
              <a:defRPr sz="1000">
                <a:solidFill>
                  <a:srgbClr val="323232"/>
                </a:solidFill>
              </a:defRPr>
            </a:pPr>
            <a:r>
              <a:t>Uses Reasoning + Acting pattern to orchestrate 6 specialized GitHub API tools. The agent thinks step-by-step: fetch issue → analyze context → generate recommendation → post comment. Built with production-grade error handling.</a:t>
            </a:r>
          </a:p>
          <a:p>
            <a:pPr>
              <a:spcBef>
                <a:spcPts val="1000"/>
              </a:spcBef>
              <a:defRPr sz="1300" b="1">
                <a:solidFill>
                  <a:srgbClr val="0969DA"/>
                </a:solidFill>
              </a:defRPr>
            </a:pPr>
            <a:r>
              <a:t>⚡ Three Operating Modes for Maximum Flexibility</a:t>
            </a:r>
          </a:p>
          <a:p>
            <a:pPr>
              <a:spcAft>
                <a:spcPts val="400"/>
              </a:spcAft>
              <a:defRPr sz="1000">
                <a:solidFill>
                  <a:srgbClr val="323232"/>
                </a:solidFill>
              </a:defRPr>
            </a:pPr>
            <a:r>
              <a:t>• Report Mode: Fast issue backlog audit (no LLM, direct formatting)</a:t>
            </a:r>
            <a:br/>
            <a:r>
              <a:t>• Recommendation Mode: Deep AI analysis for specific issues</a:t>
            </a:r>
            <a:br/>
            <a:r>
              <a:t>• Auto-Analyze Mode: Proactive 24-hour batch processing of new issues</a:t>
            </a:r>
          </a:p>
          <a:p>
            <a:pPr>
              <a:spcBef>
                <a:spcPts val="1000"/>
              </a:spcBef>
              <a:defRPr sz="1300" b="1">
                <a:solidFill>
                  <a:srgbClr val="0969DA"/>
                </a:solidFill>
              </a:defRPr>
            </a:pPr>
            <a:r>
              <a:t>🎯 Intelligent Context Extraction</a:t>
            </a:r>
          </a:p>
          <a:p>
            <a:pPr>
              <a:spcAft>
                <a:spcPts val="400"/>
              </a:spcAft>
              <a:defRPr sz="1000">
                <a:solidFill>
                  <a:srgbClr val="323232"/>
                </a:solidFill>
              </a:defRPr>
            </a:pPr>
            <a:r>
              <a:t>AI extracts key information from issue title, body, labels, and comment threads. Identifies bug patterns, feature requirements, affected areas. Provides structured recommendations based on issue type.</a:t>
            </a:r>
          </a:p>
          <a:p>
            <a:pPr>
              <a:spcBef>
                <a:spcPts val="1000"/>
              </a:spcBef>
              <a:defRPr sz="1300" b="1">
                <a:solidFill>
                  <a:srgbClr val="0969DA"/>
                </a:solidFill>
              </a:defRPr>
            </a:pPr>
            <a:r>
              <a:t>🔒 Enterprise-Ready from Day One</a:t>
            </a:r>
          </a:p>
          <a:p>
            <a:pPr>
              <a:spcAft>
                <a:spcPts val="400"/>
              </a:spcAft>
              <a:defRPr sz="1000">
                <a:solidFill>
                  <a:srgbClr val="323232"/>
                </a:solidFill>
              </a:defRPr>
            </a:pPr>
            <a:r>
              <a:t>Secure token management, rate limiting, retry logic, duplicate detection. Posts AI recommendations directly to GitHub as collapsible comments with bot markers. Supports dry-run mode for safe validation.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969DA"/>
                </a:solidFill>
              </a:defRPr>
            </a:pPr>
            <a:r>
              <a:t>Three Operating Modes for Every Use Case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188720"/>
            <a:ext cx="8229600" cy="18288"/>
          </a:xfrm>
          <a:prstGeom prst="rect">
            <a:avLst/>
          </a:prstGeom>
          <a:solidFill>
            <a:srgbClr val="0969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548640" y="2011680"/>
            <a:ext cx="2560320" cy="3657600"/>
          </a:xfrm>
          <a:prstGeom prst="rect">
            <a:avLst/>
          </a:prstGeom>
          <a:solidFill>
            <a:srgbClr val="F6F8FA"/>
          </a:solidFill>
          <a:ln w="38100">
            <a:solidFill>
              <a:srgbClr val="0969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137160" rIns="137160" rtlCol="0" anchor="ctr"/>
          <a:lstStyle/>
          <a:p>
            <a:pPr algn="ctr">
              <a:defRPr sz="1400" b="1">
                <a:solidFill>
                  <a:srgbClr val="0969DA"/>
                </a:solidFill>
              </a:defRPr>
            </a:pPr>
            <a:r>
              <a:t>📊 Report Mode</a:t>
            </a:r>
          </a:p>
          <a:p>
            <a:pPr algn="ctr">
              <a:spcBef>
                <a:spcPts val="200"/>
              </a:spcBef>
              <a:spcAft>
                <a:spcPts val="800"/>
              </a:spcAft>
              <a:defRPr sz="1100" b="1">
                <a:solidFill>
                  <a:srgbClr val="F26522"/>
                </a:solidFill>
              </a:defRPr>
            </a:pPr>
            <a:r>
              <a:t>Fast Backlog Audit</a:t>
            </a:r>
          </a:p>
          <a:p>
            <a:pPr>
              <a:spcAft>
                <a:spcPts val="200"/>
              </a:spcAft>
              <a:defRPr sz="900">
                <a:solidFill>
                  <a:srgbClr val="323232"/>
                </a:solidFill>
              </a:defRPr>
            </a:pPr>
            <a:r>
              <a:t>• Lists all open issues with metadata</a:t>
            </a:r>
          </a:p>
          <a:p>
            <a:pPr>
              <a:spcAft>
                <a:spcPts val="200"/>
              </a:spcAft>
              <a:defRPr sz="900">
                <a:solidFill>
                  <a:srgbClr val="323232"/>
                </a:solidFill>
              </a:defRPr>
            </a:pPr>
            <a:r>
              <a:t>• Age, staleness, assignee, labels</a:t>
            </a:r>
          </a:p>
          <a:p>
            <a:pPr>
              <a:spcAft>
                <a:spcPts val="200"/>
              </a:spcAft>
              <a:defRPr sz="900">
                <a:solidFill>
                  <a:srgbClr val="323232"/>
                </a:solidFill>
              </a:defRPr>
            </a:pPr>
            <a:r>
              <a:t>• Direct Python formatting (no LLM)</a:t>
            </a:r>
          </a:p>
          <a:p>
            <a:pPr>
              <a:spcAft>
                <a:spcPts val="200"/>
              </a:spcAft>
              <a:defRPr sz="900">
                <a:solidFill>
                  <a:srgbClr val="323232"/>
                </a:solidFill>
              </a:defRPr>
            </a:pPr>
            <a:r>
              <a:t>• Execution time: &lt;5 seconds</a:t>
            </a:r>
          </a:p>
          <a:p>
            <a:pPr>
              <a:spcAft>
                <a:spcPts val="200"/>
              </a:spcAft>
              <a:defRPr sz="900">
                <a:solidFill>
                  <a:srgbClr val="323232"/>
                </a:solidFill>
              </a:defRPr>
            </a:pPr>
            <a:r>
              <a:t>• Use: Weekly sprint planning, backlog review</a:t>
            </a:r>
          </a:p>
        </p:txBody>
      </p:sp>
      <p:sp>
        <p:nvSpPr>
          <p:cNvPr id="5" name="Rectangle 4"/>
          <p:cNvSpPr/>
          <p:nvPr/>
        </p:nvSpPr>
        <p:spPr>
          <a:xfrm>
            <a:off x="3383280" y="2011680"/>
            <a:ext cx="2560320" cy="3657600"/>
          </a:xfrm>
          <a:prstGeom prst="rect">
            <a:avLst/>
          </a:prstGeom>
          <a:solidFill>
            <a:srgbClr val="F6F8FA"/>
          </a:solidFill>
          <a:ln w="38100">
            <a:solidFill>
              <a:srgbClr val="0969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137160" rIns="137160" rtlCol="0" anchor="ctr"/>
          <a:lstStyle/>
          <a:p>
            <a:pPr algn="ctr">
              <a:defRPr sz="1400" b="1">
                <a:solidFill>
                  <a:srgbClr val="0969DA"/>
                </a:solidFill>
              </a:defRPr>
            </a:pPr>
            <a:r>
              <a:t>🧠 Recommendation Mode</a:t>
            </a:r>
          </a:p>
          <a:p>
            <a:pPr algn="ctr">
              <a:spcBef>
                <a:spcPts val="200"/>
              </a:spcBef>
              <a:spcAft>
                <a:spcPts val="800"/>
              </a:spcAft>
              <a:defRPr sz="1100" b="1">
                <a:solidFill>
                  <a:srgbClr val="F26522"/>
                </a:solidFill>
              </a:defRPr>
            </a:pPr>
            <a:r>
              <a:t>Deep AI Analysis</a:t>
            </a:r>
          </a:p>
          <a:p>
            <a:pPr>
              <a:spcAft>
                <a:spcPts val="200"/>
              </a:spcAft>
              <a:defRPr sz="900">
                <a:solidFill>
                  <a:srgbClr val="323232"/>
                </a:solidFill>
              </a:defRPr>
            </a:pPr>
            <a:r>
              <a:t>• Analyzes specific issue in detail</a:t>
            </a:r>
          </a:p>
          <a:p>
            <a:pPr>
              <a:spcAft>
                <a:spcPts val="200"/>
              </a:spcAft>
              <a:defRPr sz="900">
                <a:solidFill>
                  <a:srgbClr val="323232"/>
                </a:solidFill>
              </a:defRPr>
            </a:pPr>
            <a:r>
              <a:t>• AI-generated recommendations</a:t>
            </a:r>
          </a:p>
          <a:p>
            <a:pPr>
              <a:spcAft>
                <a:spcPts val="200"/>
              </a:spcAft>
              <a:defRPr sz="900">
                <a:solidFill>
                  <a:srgbClr val="323232"/>
                </a:solidFill>
              </a:defRPr>
            </a:pPr>
            <a:r>
              <a:t>• Posts comment directly to GitHub</a:t>
            </a:r>
          </a:p>
          <a:p>
            <a:pPr>
              <a:spcAft>
                <a:spcPts val="200"/>
              </a:spcAft>
              <a:defRPr sz="900">
                <a:solidFill>
                  <a:srgbClr val="323232"/>
                </a:solidFill>
              </a:defRPr>
            </a:pPr>
            <a:r>
              <a:t>• For bugs: root cause + test cases</a:t>
            </a:r>
          </a:p>
          <a:p>
            <a:pPr>
              <a:spcAft>
                <a:spcPts val="200"/>
              </a:spcAft>
              <a:defRPr sz="900">
                <a:solidFill>
                  <a:srgbClr val="323232"/>
                </a:solidFill>
              </a:defRPr>
            </a:pPr>
            <a:r>
              <a:t>• For features: implementation approach</a:t>
            </a:r>
          </a:p>
          <a:p>
            <a:pPr>
              <a:spcAft>
                <a:spcPts val="200"/>
              </a:spcAft>
              <a:defRPr sz="900">
                <a:solidFill>
                  <a:srgbClr val="323232"/>
                </a:solidFill>
              </a:defRPr>
            </a:pPr>
            <a:r>
              <a:t>• Use: Complex issues, new team members</a:t>
            </a:r>
          </a:p>
        </p:txBody>
      </p:sp>
      <p:sp>
        <p:nvSpPr>
          <p:cNvPr id="6" name="Rectangle 5"/>
          <p:cNvSpPr/>
          <p:nvPr/>
        </p:nvSpPr>
        <p:spPr>
          <a:xfrm>
            <a:off x="6217920" y="2011680"/>
            <a:ext cx="2560320" cy="3657600"/>
          </a:xfrm>
          <a:prstGeom prst="rect">
            <a:avLst/>
          </a:prstGeom>
          <a:solidFill>
            <a:srgbClr val="F6F8FA"/>
          </a:solidFill>
          <a:ln w="38100">
            <a:solidFill>
              <a:srgbClr val="0969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137160" rIns="137160" rtlCol="0" anchor="ctr"/>
          <a:lstStyle/>
          <a:p>
            <a:pPr algn="ctr">
              <a:defRPr sz="1400" b="1">
                <a:solidFill>
                  <a:srgbClr val="0969DA"/>
                </a:solidFill>
              </a:defRPr>
            </a:pPr>
            <a:r>
              <a:t>🚀 Auto-Analyze Mode</a:t>
            </a:r>
          </a:p>
          <a:p>
            <a:pPr algn="ctr">
              <a:spcBef>
                <a:spcPts val="200"/>
              </a:spcBef>
              <a:spcAft>
                <a:spcPts val="800"/>
              </a:spcAft>
              <a:defRPr sz="1100" b="1">
                <a:solidFill>
                  <a:srgbClr val="F26522"/>
                </a:solidFill>
              </a:defRPr>
            </a:pPr>
            <a:r>
              <a:t>Proactive 24-Hour Processing</a:t>
            </a:r>
          </a:p>
          <a:p>
            <a:pPr>
              <a:spcAft>
                <a:spcPts val="200"/>
              </a:spcAft>
              <a:defRPr sz="900">
                <a:solidFill>
                  <a:srgbClr val="323232"/>
                </a:solidFill>
              </a:defRPr>
            </a:pPr>
            <a:r>
              <a:t>• Discovers issues from last 24 hours</a:t>
            </a:r>
          </a:p>
          <a:p>
            <a:pPr>
              <a:spcAft>
                <a:spcPts val="200"/>
              </a:spcAft>
              <a:defRPr sz="900">
                <a:solidFill>
                  <a:srgbClr val="323232"/>
                </a:solidFill>
              </a:defRPr>
            </a:pPr>
            <a:r>
              <a:t>• Batch processes automatically</a:t>
            </a:r>
          </a:p>
          <a:p>
            <a:pPr>
              <a:spcAft>
                <a:spcPts val="200"/>
              </a:spcAft>
              <a:defRPr sz="900">
                <a:solidFill>
                  <a:srgbClr val="323232"/>
                </a:solidFill>
              </a:defRPr>
            </a:pPr>
            <a:r>
              <a:t>• Skips issues with existing bot comments</a:t>
            </a:r>
          </a:p>
          <a:p>
            <a:pPr>
              <a:spcAft>
                <a:spcPts val="200"/>
              </a:spcAft>
              <a:defRPr sz="900">
                <a:solidFill>
                  <a:srgbClr val="323232"/>
                </a:solidFill>
              </a:defRPr>
            </a:pPr>
            <a:r>
              <a:t>• Handles 100+ issues/day</a:t>
            </a:r>
          </a:p>
          <a:p>
            <a:pPr>
              <a:spcAft>
                <a:spcPts val="200"/>
              </a:spcAft>
              <a:defRPr sz="900">
                <a:solidFill>
                  <a:srgbClr val="323232"/>
                </a:solidFill>
              </a:defRPr>
            </a:pPr>
            <a:r>
              <a:t>• Supports --dry-run for preview</a:t>
            </a:r>
          </a:p>
          <a:p>
            <a:pPr>
              <a:spcAft>
                <a:spcPts val="200"/>
              </a:spcAft>
              <a:defRPr sz="900">
                <a:solidFill>
                  <a:srgbClr val="323232"/>
                </a:solidFill>
              </a:defRPr>
            </a:pPr>
            <a:r>
              <a:t>• Use: Active repos, continuous triage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969DA"/>
                </a:solidFill>
              </a:defRPr>
            </a:pPr>
            <a:r>
              <a:t>Key Features &amp; Capabilities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188720"/>
            <a:ext cx="8229600" cy="18288"/>
          </a:xfrm>
          <a:prstGeom prst="rect">
            <a:avLst/>
          </a:prstGeom>
          <a:solidFill>
            <a:srgbClr val="0969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457200" y="2011680"/>
            <a:ext cx="3749039" cy="1234440"/>
          </a:xfrm>
          <a:prstGeom prst="rect">
            <a:avLst/>
          </a:prstGeom>
          <a:solidFill>
            <a:srgbClr val="F6F8FA"/>
          </a:solidFill>
          <a:ln w="25400">
            <a:solidFill>
              <a:srgbClr val="0969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91440" rIns="137160" rtlCol="0" anchor="ctr"/>
          <a:lstStyle/>
          <a:p>
            <a:pPr algn="ctr">
              <a:defRPr sz="1300" b="1">
                <a:solidFill>
                  <a:srgbClr val="0969DA"/>
                </a:solidFill>
              </a:defRPr>
            </a:pPr>
            <a:r>
              <a:t>🎯 AI-Powered Analysis</a:t>
            </a:r>
          </a:p>
          <a:p>
            <a:pPr>
              <a:spcBef>
                <a:spcPts val="400"/>
              </a:spcBef>
              <a:defRPr sz="1000">
                <a:solidFill>
                  <a:srgbClr val="323232"/>
                </a:solidFill>
              </a:defRPr>
            </a:pPr>
            <a:r>
              <a:t>Structured recommendations based on issue type: bugs get root cause + test cases, features get implementation approach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0" y="2011680"/>
            <a:ext cx="3749039" cy="1234440"/>
          </a:xfrm>
          <a:prstGeom prst="rect">
            <a:avLst/>
          </a:prstGeom>
          <a:solidFill>
            <a:srgbClr val="F6F8FA"/>
          </a:solidFill>
          <a:ln w="25400">
            <a:solidFill>
              <a:srgbClr val="0969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91440" rIns="137160" rtlCol="0" anchor="ctr"/>
          <a:lstStyle/>
          <a:p>
            <a:pPr algn="ctr">
              <a:defRPr sz="1300" b="1">
                <a:solidFill>
                  <a:srgbClr val="0969DA"/>
                </a:solidFill>
              </a:defRPr>
            </a:pPr>
            <a:r>
              <a:t>⚡ Automated Batch Processing</a:t>
            </a:r>
          </a:p>
          <a:p>
            <a:pPr>
              <a:spcBef>
                <a:spcPts val="400"/>
              </a:spcBef>
              <a:defRPr sz="1000">
                <a:solidFill>
                  <a:srgbClr val="323232"/>
                </a:solidFill>
              </a:defRPr>
            </a:pPr>
            <a:r>
              <a:t>Proactively analyzes 100+ issues/day from last 24 hours with configurable limits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3383280"/>
            <a:ext cx="3749039" cy="1234440"/>
          </a:xfrm>
          <a:prstGeom prst="rect">
            <a:avLst/>
          </a:prstGeom>
          <a:solidFill>
            <a:srgbClr val="F6F8FA"/>
          </a:solidFill>
          <a:ln w="25400">
            <a:solidFill>
              <a:srgbClr val="0969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91440" rIns="137160" rtlCol="0" anchor="ctr"/>
          <a:lstStyle/>
          <a:p>
            <a:pPr algn="ctr">
              <a:defRPr sz="1300" b="1">
                <a:solidFill>
                  <a:srgbClr val="0969DA"/>
                </a:solidFill>
              </a:defRPr>
            </a:pPr>
            <a:r>
              <a:t>💬 Direct GitHub Integration</a:t>
            </a:r>
          </a:p>
          <a:p>
            <a:pPr>
              <a:spcBef>
                <a:spcPts val="400"/>
              </a:spcBef>
              <a:defRPr sz="1000">
                <a:solidFill>
                  <a:srgbClr val="323232"/>
                </a:solidFill>
              </a:defRPr>
            </a:pPr>
            <a:r>
              <a:t>Posts AI recommendations as collapsible comments with bot markers for tracking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0" y="3383280"/>
            <a:ext cx="3749039" cy="1234440"/>
          </a:xfrm>
          <a:prstGeom prst="rect">
            <a:avLst/>
          </a:prstGeom>
          <a:solidFill>
            <a:srgbClr val="F6F8FA"/>
          </a:solidFill>
          <a:ln w="25400">
            <a:solidFill>
              <a:srgbClr val="0969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91440" rIns="137160" rtlCol="0" anchor="ctr"/>
          <a:lstStyle/>
          <a:p>
            <a:pPr algn="ctr">
              <a:defRPr sz="1300" b="1">
                <a:solidFill>
                  <a:srgbClr val="0969DA"/>
                </a:solidFill>
              </a:defRPr>
            </a:pPr>
            <a:r>
              <a:t>🔍 Duplicate Detection</a:t>
            </a:r>
          </a:p>
          <a:p>
            <a:pPr>
              <a:spcBef>
                <a:spcPts val="400"/>
              </a:spcBef>
              <a:defRPr sz="1000">
                <a:solidFill>
                  <a:srgbClr val="323232"/>
                </a:solidFill>
              </a:defRPr>
            </a:pPr>
            <a:r>
              <a:t>Intelligent bot marker detection prevents redundant recommendations on analyzed issues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4754880"/>
            <a:ext cx="3749039" cy="1234440"/>
          </a:xfrm>
          <a:prstGeom prst="rect">
            <a:avLst/>
          </a:prstGeom>
          <a:solidFill>
            <a:srgbClr val="F6F8FA"/>
          </a:solidFill>
          <a:ln w="25400">
            <a:solidFill>
              <a:srgbClr val="0969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91440" rIns="137160" rtlCol="0" anchor="ctr"/>
          <a:lstStyle/>
          <a:p>
            <a:pPr algn="ctr">
              <a:defRPr sz="1300" b="1">
                <a:solidFill>
                  <a:srgbClr val="0969DA"/>
                </a:solidFill>
              </a:defRPr>
            </a:pPr>
            <a:r>
              <a:t>🔒 Security Hardened</a:t>
            </a:r>
          </a:p>
          <a:p>
            <a:pPr>
              <a:spcBef>
                <a:spcPts val="400"/>
              </a:spcBef>
              <a:defRPr sz="1000">
                <a:solidFill>
                  <a:srgbClr val="323232"/>
                </a:solidFill>
              </a:defRPr>
            </a:pPr>
            <a:r>
              <a:t>Token management, rate limiting, prompt injection mitigation, content truncation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0" y="4754880"/>
            <a:ext cx="3749039" cy="1234440"/>
          </a:xfrm>
          <a:prstGeom prst="rect">
            <a:avLst/>
          </a:prstGeom>
          <a:solidFill>
            <a:srgbClr val="F6F8FA"/>
          </a:solidFill>
          <a:ln w="25400">
            <a:solidFill>
              <a:srgbClr val="0969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91440" rIns="137160" rtlCol="0" anchor="ctr"/>
          <a:lstStyle/>
          <a:p>
            <a:pPr algn="ctr">
              <a:defRPr sz="1300" b="1">
                <a:solidFill>
                  <a:srgbClr val="0969DA"/>
                </a:solidFill>
              </a:defRPr>
            </a:pPr>
            <a:r>
              <a:t>📊 Production Ready</a:t>
            </a:r>
          </a:p>
          <a:p>
            <a:pPr>
              <a:spcBef>
                <a:spcPts val="400"/>
              </a:spcBef>
              <a:defRPr sz="1000">
                <a:solidFill>
                  <a:srgbClr val="323232"/>
                </a:solidFill>
              </a:defRPr>
            </a:pPr>
            <a:r>
              <a:t>Error handling for HTTP 403/404/429, retry logic, dry-run mode, comprehensive logging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969DA"/>
                </a:solidFill>
              </a:defRPr>
            </a:pPr>
            <a:r>
              <a:t>Technical Architecture: LangGraph ReAct Pattern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188720"/>
            <a:ext cx="8229600" cy="18288"/>
          </a:xfrm>
          <a:prstGeom prst="rect">
            <a:avLst/>
          </a:prstGeom>
          <a:solidFill>
            <a:srgbClr val="0969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600" b="1">
                <a:solidFill>
                  <a:srgbClr val="0969DA"/>
                </a:solidFill>
              </a:defRPr>
            </a:pPr>
            <a:r>
              <a:t>Simplified Architecture for Executive Understanding</a:t>
            </a:r>
          </a:p>
          <a:p>
            <a:pPr>
              <a:spcAft>
                <a:spcPts val="1000"/>
              </a:spcAft>
              <a:defRPr sz="1000">
                <a:solidFill>
                  <a:srgbClr val="323232"/>
                </a:solidFill>
                <a:latin typeface="Courier New"/>
              </a:defRPr>
            </a:pPr>
            <a:r>
              <a:t>User CLI (Python)</a:t>
            </a:r>
            <a:br/>
            <a:r>
              <a:t>  ↓</a:t>
            </a:r>
            <a:br/>
            <a:r>
              <a:t>Argument Parser (--report | --issue N | --auto-analyze)</a:t>
            </a:r>
            <a:br/>
            <a:r>
              <a:t>  ↓</a:t>
            </a:r>
            <a:br/>
            <a:r>
              <a:t>┌────────────────────────────────────────────────┐</a:t>
            </a:r>
            <a:br/>
            <a:r>
              <a:t>│  Report Mode: Direct Python (No LLM)           │</a:t>
            </a:r>
            <a:br/>
            <a:r>
              <a:t>│  • Fast issue listing and formatting           │</a:t>
            </a:r>
            <a:br/>
            <a:r>
              <a:t>└────────────────────────────────────────────────┘</a:t>
            </a:r>
            <a:br/>
            <a:r>
              <a:t>┌────────────────────────────────────────────────┐</a:t>
            </a:r>
            <a:br/>
            <a:r>
              <a:t>│  Analysis Modes: LangGraph ReAct Agent         │</a:t>
            </a:r>
            <a:br/>
            <a:r>
              <a:t>│  ↓                                             │</a:t>
            </a:r>
            <a:br/>
            <a:r>
              <a:t>│  LLM Orchestrator (Ollama + ChatOllama)        │</a:t>
            </a:r>
            <a:br/>
            <a:r>
              <a:t>│  ↓                                             │</a:t>
            </a:r>
            <a:br/>
            <a:r>
              <a:t>│  GitHub API Tools (6 specialized tools):       │</a:t>
            </a:r>
            <a:br/>
            <a:r>
              <a:t>│    • list_open_issues                          │</a:t>
            </a:r>
            <a:br/>
            <a:r>
              <a:t>│    • get_issue_details                         │</a:t>
            </a:r>
            <a:br/>
            <a:r>
              <a:t>│    • get_issue_comments                        │</a:t>
            </a:r>
            <a:br/>
            <a:r>
              <a:t>│    • check_existing_bot_comments               │</a:t>
            </a:r>
            <a:br/>
            <a:r>
              <a:t>│    • post_issue_comment                        │</a:t>
            </a:r>
            <a:br/>
            <a:r>
              <a:t>│    • list_recent_issues                        │</a:t>
            </a:r>
            <a:br/>
            <a:r>
              <a:t>│  ↓                                             │</a:t>
            </a:r>
            <a:br/>
            <a:r>
              <a:t>│  AI Reasoning + Recommendation Generation      │</a:t>
            </a:r>
            <a:br/>
            <a:r>
              <a:t>│  ↓                                             │</a:t>
            </a:r>
            <a:br/>
            <a:r>
              <a:t>│  GitHub Comment Post (Direct Write)            │</a:t>
            </a:r>
            <a:br/>
            <a:r>
              <a:t>└────────────────────────────────────────────────┘</a:t>
            </a:r>
          </a:p>
          <a:p>
            <a:pPr>
              <a:spcBef>
                <a:spcPts val="1000"/>
              </a:spcBef>
              <a:defRPr sz="1400" b="1">
                <a:solidFill>
                  <a:srgbClr val="0969DA"/>
                </a:solidFill>
              </a:defRPr>
            </a:pPr>
            <a:r>
              <a:t>Technology Stack</a:t>
            </a:r>
          </a:p>
          <a:p>
            <a:pPr lvl="1">
              <a:spcAft>
                <a:spcPts val="200"/>
              </a:spcAft>
              <a:defRPr sz="1000">
                <a:solidFill>
                  <a:srgbClr val="323232"/>
                </a:solidFill>
              </a:defRPr>
            </a:pPr>
            <a:r>
              <a:t>LangChain + LangGraph: Agent orchestration framework</a:t>
            </a:r>
          </a:p>
          <a:p>
            <a:pPr lvl="1">
              <a:spcAft>
                <a:spcPts val="200"/>
              </a:spcAft>
              <a:defRPr sz="1000">
                <a:solidFill>
                  <a:srgbClr val="323232"/>
                </a:solidFill>
              </a:defRPr>
            </a:pPr>
            <a:r>
              <a:t>Ollama (ChatOllama): LLM runtime (local or remote hosted)</a:t>
            </a:r>
          </a:p>
          <a:p>
            <a:pPr lvl="1">
              <a:spcAft>
                <a:spcPts val="200"/>
              </a:spcAft>
              <a:defRPr sz="1000">
                <a:solidFill>
                  <a:srgbClr val="323232"/>
                </a:solidFill>
              </a:defRPr>
            </a:pPr>
            <a:r>
              <a:t>GitHub REST API: Issue management and comment posting</a:t>
            </a:r>
          </a:p>
          <a:p>
            <a:pPr lvl="1">
              <a:spcAft>
                <a:spcPts val="200"/>
              </a:spcAft>
              <a:defRPr sz="1000">
                <a:solidFill>
                  <a:srgbClr val="323232"/>
                </a:solidFill>
              </a:defRPr>
            </a:pPr>
            <a:r>
              <a:t>Python requests: HTTP client with retry and rate limiting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F883D"/>
                </a:solidFill>
              </a:defRPr>
            </a:pPr>
            <a:r>
              <a:t>ROI &amp; Business Impact: Quantified Value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188720"/>
            <a:ext cx="8229600" cy="18288"/>
          </a:xfrm>
          <a:prstGeom prst="rect">
            <a:avLst/>
          </a:prstGeom>
          <a:solidFill>
            <a:srgbClr val="1F88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768096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600" b="1">
                <a:solidFill>
                  <a:srgbClr val="1F883D"/>
                </a:solidFill>
              </a:defRPr>
            </a:pPr>
            <a:r>
              <a:t>Conservative ROI Estimates Based on Industry Benchmarks</a:t>
            </a:r>
          </a:p>
          <a:p>
            <a:pPr>
              <a:spcBef>
                <a:spcPts val="800"/>
              </a:spcBef>
              <a:defRPr sz="1200" b="1">
                <a:solidFill>
                  <a:srgbClr val="1F883D"/>
                </a:solidFill>
              </a:defRPr>
            </a:pPr>
            <a:r>
              <a:t>💰 Time Savings (75% Reduction in Manual Triage)</a:t>
            </a:r>
          </a:p>
          <a:p>
            <a:pPr lvl="1">
              <a:spcAft>
                <a:spcPts val="100"/>
              </a:spcAft>
              <a:defRPr sz="900">
                <a:solidFill>
                  <a:srgbClr val="323232"/>
                </a:solidFill>
              </a:defRPr>
            </a:pPr>
            <a:r>
              <a:t>Before: 30 minutes average per issue (manual reading, analysis, prioritization)</a:t>
            </a:r>
          </a:p>
          <a:p>
            <a:pPr lvl="1">
              <a:spcAft>
                <a:spcPts val="100"/>
              </a:spcAft>
              <a:defRPr sz="900">
                <a:solidFill>
                  <a:srgbClr val="323232"/>
                </a:solidFill>
              </a:defRPr>
            </a:pPr>
            <a:r>
              <a:t>After: 7.5 minutes (AI pre-analysis, developer reviews recommendation)</a:t>
            </a:r>
          </a:p>
          <a:p>
            <a:pPr lvl="1">
              <a:spcAft>
                <a:spcPts val="100"/>
              </a:spcAft>
              <a:defRPr sz="900">
                <a:solidFill>
                  <a:srgbClr val="323232"/>
                </a:solidFill>
              </a:defRPr>
            </a:pPr>
            <a:r>
              <a:t>Per Developer: 5 hours/week saved (assuming 20 issues/week)</a:t>
            </a:r>
          </a:p>
          <a:p>
            <a:pPr lvl="1">
              <a:spcAft>
                <a:spcPts val="100"/>
              </a:spcAft>
              <a:defRPr sz="900">
                <a:solidFill>
                  <a:srgbClr val="323232"/>
                </a:solidFill>
              </a:defRPr>
            </a:pPr>
            <a:r>
              <a:t>Team of 20 developers: 100 hours/week = 5,200 hours/year</a:t>
            </a:r>
          </a:p>
          <a:p>
            <a:pPr>
              <a:spcBef>
                <a:spcPts val="800"/>
              </a:spcBef>
              <a:defRPr sz="1200" b="1">
                <a:solidFill>
                  <a:srgbClr val="1F883D"/>
                </a:solidFill>
              </a:defRPr>
            </a:pPr>
            <a:r>
              <a:t>💵 Cost Savings (20-Developer Team)</a:t>
            </a:r>
          </a:p>
          <a:p>
            <a:pPr lvl="1">
              <a:spcAft>
                <a:spcPts val="100"/>
              </a:spcAft>
              <a:defRPr sz="900">
                <a:solidFill>
                  <a:srgbClr val="323232"/>
                </a:solidFill>
              </a:defRPr>
            </a:pPr>
            <a:r>
              <a:t>Fully-loaded developer cost: $150/hour (typical for US market)</a:t>
            </a:r>
          </a:p>
          <a:p>
            <a:pPr lvl="1">
              <a:spcAft>
                <a:spcPts val="100"/>
              </a:spcAft>
              <a:defRPr sz="900">
                <a:solidFill>
                  <a:srgbClr val="323232"/>
                </a:solidFill>
              </a:defRPr>
            </a:pPr>
            <a:r>
              <a:t>Annual savings: 5,200 hours × $150 = $780,000</a:t>
            </a:r>
          </a:p>
          <a:p>
            <a:pPr lvl="1">
              <a:spcAft>
                <a:spcPts val="100"/>
              </a:spcAft>
              <a:defRPr sz="900">
                <a:solidFill>
                  <a:srgbClr val="323232"/>
                </a:solidFill>
              </a:defRPr>
            </a:pPr>
            <a:r>
              <a:t>Conservative estimate (50% utilization): $390,000/year</a:t>
            </a:r>
          </a:p>
          <a:p>
            <a:pPr lvl="1">
              <a:spcAft>
                <a:spcPts val="100"/>
              </a:spcAft>
              <a:defRPr sz="900">
                <a:solidFill>
                  <a:srgbClr val="323232"/>
                </a:solidFill>
              </a:defRPr>
            </a:pPr>
            <a:r>
              <a:t>After 25% reallocation to higher-value work: $292,500 net savings</a:t>
            </a:r>
          </a:p>
          <a:p>
            <a:pPr>
              <a:spcBef>
                <a:spcPts val="800"/>
              </a:spcBef>
              <a:defRPr sz="1200" b="1">
                <a:solidFill>
                  <a:srgbClr val="1F883D"/>
                </a:solidFill>
              </a:defRPr>
            </a:pPr>
            <a:r>
              <a:t>📈 Productivity Gains</a:t>
            </a:r>
          </a:p>
          <a:p>
            <a:pPr lvl="1">
              <a:spcAft>
                <a:spcPts val="100"/>
              </a:spcAft>
              <a:defRPr sz="900">
                <a:solidFill>
                  <a:srgbClr val="323232"/>
                </a:solidFill>
              </a:defRPr>
            </a:pPr>
            <a:r>
              <a:t>50% faster issue resolution with AI-guided implementation approach</a:t>
            </a:r>
          </a:p>
          <a:p>
            <a:pPr lvl="1">
              <a:spcAft>
                <a:spcPts val="100"/>
              </a:spcAft>
              <a:defRPr sz="900">
                <a:solidFill>
                  <a:srgbClr val="323232"/>
                </a:solidFill>
              </a:defRPr>
            </a:pPr>
            <a:r>
              <a:t>Reduced onboarding time: new developers get instant context</a:t>
            </a:r>
          </a:p>
          <a:p>
            <a:pPr lvl="1">
              <a:spcAft>
                <a:spcPts val="100"/>
              </a:spcAft>
              <a:defRPr sz="900">
                <a:solidFill>
                  <a:srgbClr val="323232"/>
                </a:solidFill>
              </a:defRPr>
            </a:pPr>
            <a:r>
              <a:t>Proactive 24-hour analysis prevents backlog accumulation</a:t>
            </a:r>
          </a:p>
          <a:p>
            <a:pPr lvl="1">
              <a:spcAft>
                <a:spcPts val="100"/>
              </a:spcAft>
              <a:defRPr sz="900">
                <a:solidFill>
                  <a:srgbClr val="323232"/>
                </a:solidFill>
              </a:defRPr>
            </a:pPr>
            <a:r>
              <a:t>100+ issues/day batch processing scales with repository growth</a:t>
            </a:r>
          </a:p>
          <a:p>
            <a:pPr>
              <a:spcBef>
                <a:spcPts val="800"/>
              </a:spcBef>
              <a:defRPr sz="1200" b="1">
                <a:solidFill>
                  <a:srgbClr val="1F883D"/>
                </a:solidFill>
              </a:defRPr>
            </a:pPr>
            <a:r>
              <a:t>🎯 Quality Improvements</a:t>
            </a:r>
          </a:p>
          <a:p>
            <a:pPr lvl="1">
              <a:spcAft>
                <a:spcPts val="100"/>
              </a:spcAft>
              <a:defRPr sz="900">
                <a:solidFill>
                  <a:srgbClr val="323232"/>
                </a:solidFill>
              </a:defRPr>
            </a:pPr>
            <a:r>
              <a:t>Consistent analysis quality (not dependent on developer availability)</a:t>
            </a:r>
          </a:p>
          <a:p>
            <a:pPr lvl="1">
              <a:spcAft>
                <a:spcPts val="100"/>
              </a:spcAft>
              <a:defRPr sz="900">
                <a:solidFill>
                  <a:srgbClr val="323232"/>
                </a:solidFill>
              </a:defRPr>
            </a:pPr>
            <a:r>
              <a:t>Test case suggestions reduce bug recurrence rates</a:t>
            </a:r>
          </a:p>
          <a:p>
            <a:pPr lvl="1">
              <a:spcAft>
                <a:spcPts val="100"/>
              </a:spcAft>
              <a:defRPr sz="900">
                <a:solidFill>
                  <a:srgbClr val="323232"/>
                </a:solidFill>
              </a:defRPr>
            </a:pPr>
            <a:r>
              <a:t>Root cause analysis improves long-term code quality</a:t>
            </a:r>
          </a:p>
          <a:p>
            <a:pPr lvl="1">
              <a:spcAft>
                <a:spcPts val="100"/>
              </a:spcAft>
              <a:defRPr sz="900">
                <a:solidFill>
                  <a:srgbClr val="323232"/>
                </a:solidFill>
              </a:defRPr>
            </a:pPr>
            <a:r>
              <a:t>Audit trail with timestamped AI recommendations for retrospectives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26522"/>
                </a:solidFill>
              </a:defRPr>
            </a:pPr>
            <a:r>
              <a:t>Security &amp; Enterprise Readiness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188720"/>
            <a:ext cx="8229600" cy="18288"/>
          </a:xfrm>
          <a:prstGeom prst="rect">
            <a:avLst/>
          </a:prstGeom>
          <a:solidFill>
            <a:srgbClr val="F265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600" b="1">
                <a:solidFill>
                  <a:srgbClr val="F26522"/>
                </a:solidFill>
              </a:defRPr>
            </a:pPr>
            <a:r>
              <a:t>Production-Grade Security &amp; Reliability Features</a:t>
            </a:r>
          </a:p>
          <a:p>
            <a:pPr>
              <a:spcBef>
                <a:spcPts val="800"/>
              </a:spcBef>
              <a:defRPr sz="1200" b="1">
                <a:solidFill>
                  <a:srgbClr val="F26522"/>
                </a:solidFill>
              </a:defRPr>
            </a:pPr>
            <a:r>
              <a:t>🔐 Secure Token Management</a:t>
            </a:r>
          </a:p>
          <a:p>
            <a:pPr lvl="1">
              <a:spcAft>
                <a:spcPts val="100"/>
              </a:spcAft>
              <a:defRPr sz="900">
                <a:solidFill>
                  <a:srgbClr val="323232"/>
                </a:solidFill>
              </a:defRPr>
            </a:pPr>
            <a:r>
              <a:t>GitHub Personal Access Tokens stored in environment variables (never in code)</a:t>
            </a:r>
          </a:p>
          <a:p>
            <a:pPr lvl="1">
              <a:spcAft>
                <a:spcPts val="100"/>
              </a:spcAft>
              <a:defRPr sz="900">
                <a:solidFill>
                  <a:srgbClr val="323232"/>
                </a:solidFill>
              </a:defRPr>
            </a:pPr>
            <a:r>
              <a:t>Supports HashiCorp Vault integration for centralized secret management</a:t>
            </a:r>
          </a:p>
          <a:p>
            <a:pPr lvl="1">
              <a:spcAft>
                <a:spcPts val="100"/>
              </a:spcAft>
              <a:defRPr sz="900">
                <a:solidFill>
                  <a:srgbClr val="323232"/>
                </a:solidFill>
              </a:defRPr>
            </a:pPr>
            <a:r>
              <a:t>Token scope validation: detects insufficient permissions and provides guidance</a:t>
            </a:r>
          </a:p>
          <a:p>
            <a:pPr lvl="1">
              <a:spcAft>
                <a:spcPts val="100"/>
              </a:spcAft>
              <a:defRPr sz="900">
                <a:solidFill>
                  <a:srgbClr val="323232"/>
                </a:solidFill>
              </a:defRPr>
            </a:pPr>
            <a:r>
              <a:t>Automatic fallback to .env if Vault unreachable</a:t>
            </a:r>
          </a:p>
          <a:p>
            <a:pPr>
              <a:spcBef>
                <a:spcPts val="800"/>
              </a:spcBef>
              <a:defRPr sz="1200" b="1">
                <a:solidFill>
                  <a:srgbClr val="F26522"/>
                </a:solidFill>
              </a:defRPr>
            </a:pPr>
            <a:r>
              <a:t>⚡ Rate Limiting &amp; Reliability</a:t>
            </a:r>
          </a:p>
          <a:p>
            <a:pPr lvl="1">
              <a:spcAft>
                <a:spcPts val="100"/>
              </a:spcAft>
              <a:defRPr sz="900">
                <a:solidFill>
                  <a:srgbClr val="323232"/>
                </a:solidFill>
              </a:defRPr>
            </a:pPr>
            <a:r>
              <a:t>Token bucket algorithm prevents GitHub API rate limit exhaustion</a:t>
            </a:r>
          </a:p>
          <a:p>
            <a:pPr lvl="1">
              <a:spcAft>
                <a:spcPts val="100"/>
              </a:spcAft>
              <a:defRPr sz="900">
                <a:solidFill>
                  <a:srgbClr val="323232"/>
                </a:solidFill>
              </a:defRPr>
            </a:pPr>
            <a:r>
              <a:t>Exponential backoff retry logic for transient failures (503, 429 errors)</a:t>
            </a:r>
          </a:p>
          <a:p>
            <a:pPr lvl="1">
              <a:spcAft>
                <a:spcPts val="100"/>
              </a:spcAft>
              <a:defRPr sz="900">
                <a:solidFill>
                  <a:srgbClr val="323232"/>
                </a:solidFill>
              </a:defRPr>
            </a:pPr>
            <a:r>
              <a:t>Graceful error handling for HTTP 403 (permissions) and 404 (not found)</a:t>
            </a:r>
          </a:p>
          <a:p>
            <a:pPr lvl="1">
              <a:spcAft>
                <a:spcPts val="100"/>
              </a:spcAft>
              <a:defRPr sz="900">
                <a:solidFill>
                  <a:srgbClr val="323232"/>
                </a:solidFill>
              </a:defRPr>
            </a:pPr>
            <a:r>
              <a:t>Configurable issue limits for batch processing (default: 100 issues/day)</a:t>
            </a:r>
          </a:p>
          <a:p>
            <a:pPr>
              <a:spcBef>
                <a:spcPts val="800"/>
              </a:spcBef>
              <a:defRPr sz="1200" b="1">
                <a:solidFill>
                  <a:srgbClr val="F26522"/>
                </a:solidFill>
              </a:defRPr>
            </a:pPr>
            <a:r>
              <a:t>🛡️ Prompt Injection Mitigation</a:t>
            </a:r>
          </a:p>
          <a:p>
            <a:pPr lvl="1">
              <a:spcAft>
                <a:spcPts val="100"/>
              </a:spcAft>
              <a:defRPr sz="900">
                <a:solidFill>
                  <a:srgbClr val="323232"/>
                </a:solidFill>
              </a:defRPr>
            </a:pPr>
            <a:r>
              <a:t>Content truncation prevents context overflow attacks (4000 chars for issue body)</a:t>
            </a:r>
          </a:p>
          <a:p>
            <a:pPr lvl="1">
              <a:spcAft>
                <a:spcPts val="100"/>
              </a:spcAft>
              <a:defRPr sz="900">
                <a:solidFill>
                  <a:srgbClr val="323232"/>
                </a:solidFill>
              </a:defRPr>
            </a:pPr>
            <a:r>
              <a:t>XML delimiter tags protect system prompt from user-controlled issue content</a:t>
            </a:r>
          </a:p>
          <a:p>
            <a:pPr lvl="1">
              <a:spcAft>
                <a:spcPts val="100"/>
              </a:spcAft>
              <a:defRPr sz="900">
                <a:solidFill>
                  <a:srgbClr val="323232"/>
                </a:solidFill>
              </a:defRPr>
            </a:pPr>
            <a:r>
              <a:t>Bot marker prevents comment tampering and duplicate recommendations</a:t>
            </a:r>
          </a:p>
          <a:p>
            <a:pPr lvl="1">
              <a:spcAft>
                <a:spcPts val="100"/>
              </a:spcAft>
              <a:defRPr sz="900">
                <a:solidFill>
                  <a:srgbClr val="323232"/>
                </a:solidFill>
              </a:defRPr>
            </a:pPr>
            <a:r>
              <a:t>No sensitive data logging (tokens, API keys excluded from logs)</a:t>
            </a:r>
          </a:p>
          <a:p>
            <a:pPr>
              <a:spcBef>
                <a:spcPts val="800"/>
              </a:spcBef>
              <a:defRPr sz="1200" b="1">
                <a:solidFill>
                  <a:srgbClr val="F26522"/>
                </a:solidFill>
              </a:defRPr>
            </a:pPr>
            <a:r>
              <a:t>✅ Audit &amp; Compliance</a:t>
            </a:r>
          </a:p>
          <a:p>
            <a:pPr lvl="1">
              <a:spcAft>
                <a:spcPts val="100"/>
              </a:spcAft>
              <a:defRPr sz="900">
                <a:solidFill>
                  <a:srgbClr val="323232"/>
                </a:solidFill>
              </a:defRPr>
            </a:pPr>
            <a:r>
              <a:t>Timestamped AI recommendations posted to GitHub (permanent audit trail)</a:t>
            </a:r>
          </a:p>
          <a:p>
            <a:pPr lvl="1">
              <a:spcAft>
                <a:spcPts val="100"/>
              </a:spcAft>
              <a:defRPr sz="900">
                <a:solidFill>
                  <a:srgbClr val="323232"/>
                </a:solidFill>
              </a:defRPr>
            </a:pPr>
            <a:r>
              <a:t>Dry-run mode allows validation before production deployment</a:t>
            </a:r>
          </a:p>
          <a:p>
            <a:pPr lvl="1">
              <a:spcAft>
                <a:spcPts val="100"/>
              </a:spcAft>
              <a:defRPr sz="900">
                <a:solidFill>
                  <a:srgbClr val="323232"/>
                </a:solidFill>
              </a:defRPr>
            </a:pPr>
            <a:r>
              <a:t>Structured logging (LOG_LEVEL configurable) for troubleshooting</a:t>
            </a:r>
          </a:p>
          <a:p>
            <a:pPr lvl="1">
              <a:spcAft>
                <a:spcPts val="100"/>
              </a:spcAft>
              <a:defRPr sz="900">
                <a:solidFill>
                  <a:srgbClr val="323232"/>
                </a:solidFill>
              </a:defRPr>
            </a:pPr>
            <a:r>
              <a:t>Bot identification marker in all AI-generated comments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>
          <a:xfrm>
            <a:off x="4754880" y="3474720"/>
            <a:ext cx="3931920" cy="2286000"/>
          </a:xfrm>
          <a:prstGeom prst="rect">
            <a:avLst/>
          </a:prstGeom>
          <a:solidFill>
            <a:srgbClr val="F6F8FA"/>
          </a:solidFill>
          <a:ln w="25400">
            <a:solidFill>
              <a:srgbClr val="0969DA"/>
            </a:solidFill>
            <a:prstDash val="sys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457200" y="3474720"/>
            <a:ext cx="3931920" cy="2286000"/>
          </a:xfrm>
          <a:prstGeom prst="rect">
            <a:avLst/>
          </a:prstGeom>
          <a:solidFill>
            <a:srgbClr val="F6F8FA"/>
          </a:solidFill>
          <a:ln w="25400">
            <a:solidFill>
              <a:srgbClr val="0969DA"/>
            </a:solidFill>
            <a:prstDash val="sys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TextBox 1"/>
          <p:cNvSpPr txBox="1"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F883D"/>
                </a:solidFill>
              </a:defRPr>
            </a:pPr>
            <a:r>
              <a:t>Real-World Example: Before &amp; After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188720"/>
            <a:ext cx="8229600" cy="18288"/>
          </a:xfrm>
          <a:prstGeom prst="rect">
            <a:avLst/>
          </a:prstGeom>
          <a:solidFill>
            <a:srgbClr val="1F88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1920240"/>
            <a:ext cx="39319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F26522"/>
                </a:solidFill>
              </a:defRPr>
            </a:pPr>
            <a:r>
              <a:rPr dirty="0"/>
              <a:t>❌ Before: Manual Process</a:t>
            </a:r>
          </a:p>
          <a:p>
            <a:pPr lvl="1">
              <a:spcAft>
                <a:spcPts val="200"/>
              </a:spcAft>
              <a:defRPr sz="1000">
                <a:solidFill>
                  <a:srgbClr val="323232"/>
                </a:solidFill>
              </a:defRPr>
            </a:pPr>
            <a:r>
              <a:rPr dirty="0"/>
              <a:t>Developer opens GitHub issue</a:t>
            </a:r>
          </a:p>
          <a:p>
            <a:pPr lvl="1">
              <a:spcAft>
                <a:spcPts val="200"/>
              </a:spcAft>
              <a:defRPr sz="1000">
                <a:solidFill>
                  <a:srgbClr val="323232"/>
                </a:solidFill>
              </a:defRPr>
            </a:pPr>
            <a:r>
              <a:rPr dirty="0"/>
              <a:t>Manually reads title, body, 10+ comments</a:t>
            </a:r>
          </a:p>
          <a:p>
            <a:pPr lvl="1">
              <a:spcAft>
                <a:spcPts val="200"/>
              </a:spcAft>
              <a:defRPr sz="1000">
                <a:solidFill>
                  <a:srgbClr val="323232"/>
                </a:solidFill>
              </a:defRPr>
            </a:pPr>
            <a:r>
              <a:rPr dirty="0"/>
              <a:t>Searches codebase for affected areas</a:t>
            </a:r>
          </a:p>
          <a:p>
            <a:pPr lvl="1">
              <a:spcAft>
                <a:spcPts val="200"/>
              </a:spcAft>
              <a:defRPr sz="1000">
                <a:solidFill>
                  <a:srgbClr val="323232"/>
                </a:solidFill>
              </a:defRPr>
            </a:pPr>
            <a:r>
              <a:rPr dirty="0"/>
              <a:t>Drafts response with implementation approach</a:t>
            </a:r>
          </a:p>
          <a:p>
            <a:pPr lvl="1">
              <a:spcAft>
                <a:spcPts val="200"/>
              </a:spcAft>
              <a:defRPr sz="1000">
                <a:solidFill>
                  <a:srgbClr val="323232"/>
                </a:solidFill>
              </a:defRPr>
            </a:pPr>
            <a:r>
              <a:rPr dirty="0"/>
              <a:t>Time: 30+ minutes per issue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754880" y="1828800"/>
            <a:ext cx="39319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F883D"/>
                </a:solidFill>
              </a:defRPr>
            </a:pPr>
            <a:r>
              <a:t>✅ After: AI Agent</a:t>
            </a:r>
          </a:p>
          <a:p>
            <a:pPr lvl="1">
              <a:spcAft>
                <a:spcPts val="200"/>
              </a:spcAft>
              <a:defRPr sz="1000">
                <a:solidFill>
                  <a:srgbClr val="323232"/>
                </a:solidFill>
              </a:defRPr>
            </a:pPr>
            <a:r>
              <a:t>AI agent detects new issue within 24 hours</a:t>
            </a:r>
          </a:p>
          <a:p>
            <a:pPr lvl="1">
              <a:spcAft>
                <a:spcPts val="200"/>
              </a:spcAft>
              <a:defRPr sz="1000">
                <a:solidFill>
                  <a:srgbClr val="323232"/>
                </a:solidFill>
              </a:defRPr>
            </a:pPr>
            <a:r>
              <a:t>Automatically analyzes issue + comments</a:t>
            </a:r>
          </a:p>
          <a:p>
            <a:pPr lvl="1">
              <a:spcAft>
                <a:spcPts val="200"/>
              </a:spcAft>
              <a:defRPr sz="1000">
                <a:solidFill>
                  <a:srgbClr val="323232"/>
                </a:solidFill>
              </a:defRPr>
            </a:pPr>
            <a:r>
              <a:t>Generates structured recommendation</a:t>
            </a:r>
          </a:p>
          <a:p>
            <a:pPr lvl="1">
              <a:spcAft>
                <a:spcPts val="200"/>
              </a:spcAft>
              <a:defRPr sz="1000">
                <a:solidFill>
                  <a:srgbClr val="323232"/>
                </a:solidFill>
              </a:defRPr>
            </a:pPr>
            <a:r>
              <a:t>Posts collapsible comment to GitHub</a:t>
            </a:r>
          </a:p>
          <a:p>
            <a:pPr lvl="1">
              <a:spcAft>
                <a:spcPts val="200"/>
              </a:spcAft>
              <a:defRPr sz="1000">
                <a:solidFill>
                  <a:srgbClr val="323232"/>
                </a:solidFill>
              </a:defRPr>
            </a:pPr>
            <a:r>
              <a:t>Time: Automated (developer reviews in 7.5 min)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474720"/>
            <a:ext cx="39319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0969DA"/>
                </a:solidFill>
              </a:defRPr>
            </a:pPr>
            <a:r>
              <a:t>📊 Report Mode Screenshot</a:t>
            </a:r>
          </a:p>
          <a:p>
            <a:r>
              <a:t/>
            </a:r>
            <a:br/>
            <a:r>
              <a:t>[Placeholder for report.png]</a:t>
            </a:r>
            <a:br/>
            <a:r>
              <a:t/>
            </a:r>
            <a:br/>
            <a:r>
              <a:t>Shows: Issue backlog table with age, assignee, labels, staleness metrics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754880" y="3474720"/>
            <a:ext cx="39319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0969DA"/>
                </a:solidFill>
              </a:defRPr>
            </a:pPr>
            <a:r>
              <a:t>💬 AI Recommendation Screenshot</a:t>
            </a:r>
          </a:p>
          <a:p>
            <a:r>
              <a:t/>
            </a:r>
            <a:br/>
            <a:r>
              <a:t>[Placeholder for recommendation.png]</a:t>
            </a:r>
            <a:br/>
            <a:r>
              <a:t/>
            </a:r>
            <a:br/>
            <a:r>
              <a:t>Shows: AI-generated comment with root cause, suggested fix, test cases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594360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 i="1">
                <a:solidFill>
                  <a:srgbClr val="323232"/>
                </a:solidFill>
              </a:defRPr>
            </a:pPr>
            <a:r>
              <a:t>📸 Manual insertion: Copy screenshots from projects/04_github_issue_reporter/screenshots/ to replace placeholders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F883D"/>
                </a:solidFill>
              </a:defRPr>
            </a:pPr>
            <a:r>
              <a:t>Implementation Roadmap &amp; Next Steps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188720"/>
            <a:ext cx="8229600" cy="18288"/>
          </a:xfrm>
          <a:prstGeom prst="rect">
            <a:avLst/>
          </a:prstGeom>
          <a:solidFill>
            <a:srgbClr val="1F88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768096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600" b="1">
                <a:solidFill>
                  <a:srgbClr val="1F883D"/>
                </a:solidFill>
              </a:defRPr>
            </a:pPr>
            <a:r>
              <a:t>Fast Time-to-Value: Production-Ready in 2 Weeks</a:t>
            </a:r>
          </a:p>
          <a:p>
            <a:pPr>
              <a:spcBef>
                <a:spcPts val="800"/>
              </a:spcBef>
              <a:defRPr sz="1300" b="1">
                <a:solidFill>
                  <a:srgbClr val="0969DA"/>
                </a:solidFill>
              </a:defRPr>
            </a:pPr>
            <a:r>
              <a:t>Week 1: Pilot Deployment (Low Risk)</a:t>
            </a:r>
          </a:p>
          <a:p>
            <a:pPr lvl="1">
              <a:spcAft>
                <a:spcPts val="200"/>
              </a:spcAft>
              <a:defRPr sz="1000">
                <a:solidFill>
                  <a:srgbClr val="323232"/>
                </a:solidFill>
              </a:defRPr>
            </a:pPr>
            <a:r>
              <a:t>✓ Already built and tested (production-ready codebase available)</a:t>
            </a:r>
          </a:p>
          <a:p>
            <a:pPr lvl="1">
              <a:spcAft>
                <a:spcPts val="200"/>
              </a:spcAft>
              <a:defRPr sz="1000">
                <a:solidFill>
                  <a:srgbClr val="323232"/>
                </a:solidFill>
              </a:defRPr>
            </a:pPr>
            <a:r>
              <a:t>✓ Deploy to single non-critical repository for validation</a:t>
            </a:r>
          </a:p>
          <a:p>
            <a:pPr lvl="1">
              <a:spcAft>
                <a:spcPts val="200"/>
              </a:spcAft>
              <a:defRPr sz="1000">
                <a:solidFill>
                  <a:srgbClr val="323232"/>
                </a:solidFill>
              </a:defRPr>
            </a:pPr>
            <a:r>
              <a:t>✓ Run in report mode + manual recommendation mode only</a:t>
            </a:r>
          </a:p>
          <a:p>
            <a:pPr lvl="1">
              <a:spcAft>
                <a:spcPts val="200"/>
              </a:spcAft>
              <a:defRPr sz="1000">
                <a:solidFill>
                  <a:srgbClr val="323232"/>
                </a:solidFill>
              </a:defRPr>
            </a:pPr>
            <a:r>
              <a:t>✓ Team reviews AI recommendations for quality assessment</a:t>
            </a:r>
          </a:p>
          <a:p>
            <a:pPr lvl="1">
              <a:spcAft>
                <a:spcPts val="200"/>
              </a:spcAft>
              <a:defRPr sz="1000">
                <a:solidFill>
                  <a:srgbClr val="323232"/>
                </a:solidFill>
              </a:defRPr>
            </a:pPr>
            <a:r>
              <a:t>✓ Collect feedback and refine configuration</a:t>
            </a:r>
          </a:p>
          <a:p>
            <a:pPr>
              <a:spcBef>
                <a:spcPts val="800"/>
              </a:spcBef>
              <a:defRPr sz="1300" b="1">
                <a:solidFill>
                  <a:srgbClr val="0969DA"/>
                </a:solidFill>
              </a:defRPr>
            </a:pPr>
            <a:r>
              <a:t>Week 2: Production Rollout</a:t>
            </a:r>
          </a:p>
          <a:p>
            <a:pPr lvl="1">
              <a:spcAft>
                <a:spcPts val="200"/>
              </a:spcAft>
              <a:defRPr sz="1000">
                <a:solidFill>
                  <a:srgbClr val="323232"/>
                </a:solidFill>
              </a:defRPr>
            </a:pPr>
            <a:r>
              <a:t>✓ Enable auto-analyze mode for 24-hour proactive processing</a:t>
            </a:r>
          </a:p>
          <a:p>
            <a:pPr lvl="1">
              <a:spcAft>
                <a:spcPts val="200"/>
              </a:spcAft>
              <a:defRPr sz="1000">
                <a:solidFill>
                  <a:srgbClr val="323232"/>
                </a:solidFill>
              </a:defRPr>
            </a:pPr>
            <a:r>
              <a:t>✓ Deploy to 3-5 high-velocity repositories</a:t>
            </a:r>
          </a:p>
          <a:p>
            <a:pPr lvl="1">
              <a:spcAft>
                <a:spcPts val="200"/>
              </a:spcAft>
              <a:defRPr sz="1000">
                <a:solidFill>
                  <a:srgbClr val="323232"/>
                </a:solidFill>
              </a:defRPr>
            </a:pPr>
            <a:r>
              <a:t>✓ Configure batch processing limits and dry-run schedules</a:t>
            </a:r>
          </a:p>
          <a:p>
            <a:pPr lvl="1">
              <a:spcAft>
                <a:spcPts val="200"/>
              </a:spcAft>
              <a:defRPr sz="1000">
                <a:solidFill>
                  <a:srgbClr val="323232"/>
                </a:solidFill>
              </a:defRPr>
            </a:pPr>
            <a:r>
              <a:t>✓ Monitor GitHub API rate limits and error rates</a:t>
            </a:r>
          </a:p>
          <a:p>
            <a:pPr lvl="1">
              <a:spcAft>
                <a:spcPts val="200"/>
              </a:spcAft>
              <a:defRPr sz="1000">
                <a:solidFill>
                  <a:srgbClr val="323232"/>
                </a:solidFill>
              </a:defRPr>
            </a:pPr>
            <a:r>
              <a:t>✓ Train development team on using AI recommendations</a:t>
            </a:r>
          </a:p>
          <a:p>
            <a:pPr>
              <a:spcBef>
                <a:spcPts val="800"/>
              </a:spcBef>
              <a:defRPr sz="1300" b="1">
                <a:solidFill>
                  <a:srgbClr val="0969DA"/>
                </a:solidFill>
              </a:defRPr>
            </a:pPr>
            <a:r>
              <a:t>Month 2+: Scale &amp; Optimize</a:t>
            </a:r>
          </a:p>
          <a:p>
            <a:pPr lvl="1">
              <a:spcAft>
                <a:spcPts val="200"/>
              </a:spcAft>
              <a:defRPr sz="1000">
                <a:solidFill>
                  <a:srgbClr val="323232"/>
                </a:solidFill>
              </a:defRPr>
            </a:pPr>
            <a:r>
              <a:t>✓ Expand to all active repositories organization-wide</a:t>
            </a:r>
          </a:p>
          <a:p>
            <a:pPr lvl="1">
              <a:spcAft>
                <a:spcPts val="200"/>
              </a:spcAft>
              <a:defRPr sz="1000">
                <a:solidFill>
                  <a:srgbClr val="323232"/>
                </a:solidFill>
              </a:defRPr>
            </a:pPr>
            <a:r>
              <a:t>✓ Integrate with CI/CD for automated issue creation on test failures</a:t>
            </a:r>
          </a:p>
          <a:p>
            <a:pPr lvl="1">
              <a:spcAft>
                <a:spcPts val="200"/>
              </a:spcAft>
              <a:defRPr sz="1000">
                <a:solidFill>
                  <a:srgbClr val="323232"/>
                </a:solidFill>
              </a:defRPr>
            </a:pPr>
            <a:r>
              <a:t>✓ Customize prompt templates for domain-specific issue types</a:t>
            </a:r>
          </a:p>
          <a:p>
            <a:pPr lvl="1">
              <a:spcAft>
                <a:spcPts val="200"/>
              </a:spcAft>
              <a:defRPr sz="1000">
                <a:solidFill>
                  <a:srgbClr val="323232"/>
                </a:solidFill>
              </a:defRPr>
            </a:pPr>
            <a:r>
              <a:t>✓ Add custom integrations (Slack notifications, Jira sync)</a:t>
            </a:r>
          </a:p>
          <a:p>
            <a:pPr lvl="1">
              <a:spcAft>
                <a:spcPts val="200"/>
              </a:spcAft>
              <a:defRPr sz="1000">
                <a:solidFill>
                  <a:srgbClr val="323232"/>
                </a:solidFill>
              </a:defRPr>
            </a:pPr>
            <a:r>
              <a:t>✓ Measure ROI metrics: time savings, resolution speed, developer satisfaction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1371600" y="5852160"/>
            <a:ext cx="6400800" cy="731520"/>
          </a:xfrm>
          <a:prstGeom prst="rect">
            <a:avLst/>
          </a:prstGeom>
          <a:solidFill>
            <a:srgbClr val="1F88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rPr dirty="0"/>
              <a:t>🚀 Ready to Approve Pilot? Let's deploy to your first repository next week!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</TotalTime>
  <Words>1744</Words>
  <Application>Microsoft Office PowerPoint</Application>
  <PresentationFormat>On-screen Show (4:3)</PresentationFormat>
  <Paragraphs>205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6" baseType="lpstr">
      <vt:lpstr>Arial</vt:lpstr>
      <vt:lpstr>Calibri</vt:lpstr>
      <vt:lpstr>Courier New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/>
  <cp:keywords/>
  <dc:description>generated using python-pptx</dc:description>
  <cp:lastModifiedBy>vsrivastava</cp:lastModifiedBy>
  <cp:revision>2</cp:revision>
  <dcterms:created xsi:type="dcterms:W3CDTF">2013-01-27T09:14:16Z</dcterms:created>
  <dcterms:modified xsi:type="dcterms:W3CDTF">2026-05-11T14:32:12Z</dcterms:modified>
  <cp:category/>
</cp:coreProperties>
</file>