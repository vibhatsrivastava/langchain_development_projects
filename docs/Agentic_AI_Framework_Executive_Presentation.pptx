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Agentic AI Development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Production-Ready SDK for Building Intelligent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DCF0"/>
                </a:solidFill>
              </a:defRPr>
            </a:pPr>
            <a:r>
              <a:t>Executive Presentation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1600" b="1">
                <a:solidFill>
                  <a:srgbClr val="0078D4"/>
                </a:solidFill>
              </a:defRPr>
            </a:pPr>
            <a:r>
              <a:t>The Challenge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Building production-ready AI agents requires significant infrastructure: LLM orchestration, vector stores, caching, observability, testing, and secret management. Development teams typically spend 15+ minutes per project on boilerplate setup.</a:t>
            </a:r>
          </a:p>
          <a:p>
            <a:pPr>
              <a:spcBef>
                <a:spcPts val="1200"/>
              </a:spcBef>
              <a:defRPr sz="1600" b="1">
                <a:solidFill>
                  <a:srgbClr val="0078D4"/>
                </a:solidFill>
              </a:defRPr>
            </a:pPr>
            <a:r>
              <a:t>Our Solution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A comprehensive Python monorepo with SDK tooling that reduces project scaffolding from 15 minutes to under 2 minutes while enforcing 90% test coverage and production-ready patterns.</a:t>
            </a:r>
          </a:p>
          <a:p>
            <a:pPr>
              <a:spcBef>
                <a:spcPts val="1200"/>
              </a:spcBef>
              <a:defRPr sz="1600" b="1">
                <a:solidFill>
                  <a:srgbClr val="0078D4"/>
                </a:solidFill>
              </a:defRPr>
            </a:pPr>
            <a:r>
              <a:t>Key Value Proposition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Accelerated Time-to-Market: 87% faster project setup</a:t>
            </a:r>
            <a:br/>
            <a:r>
              <a:t>• Enterprise-Grade: Built-in Vault integration, rate limiting, retry logic</a:t>
            </a:r>
            <a:br/>
            <a:r>
              <a:t>• Composable Architecture: Mix-and-match integrations (pgvector, Redis, Langfuse)</a:t>
            </a:r>
            <a:br/>
            <a:r>
              <a:t>• Quality Assurance: Automated test generation with 90% coverage enforcement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What is the Agentic AI Development Framework?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7C10"/>
                </a:solidFill>
              </a:defRPr>
            </a:pPr>
            <a:r>
              <a:t>A Production-Ready Monorepo for Building Intelligent AI Agents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The framework is a curated collection of LangChain and LangGraph-based AI projects with shared utilities, automated scaffolding, and enterprise-grade integrations.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Unlike traditional AI development where teams start from scratch for each project, our framework provides: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✓ Standardized Architecture: Consistent project structure across all agents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✓ Shared Components: Reusable LLM factory, prompts, utilities, and error handling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✓ SDK-Powered Scaffolding: Auto-generate projects with one CLI command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✓ Built-in Best Practices: 90% test coverage, mocked LLMs, production patterns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✓ Enterprise Integration: HashiCorp Vault, rate limiting, token counting, retry logic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✓ Learning Resources: Quick-reference guides for Agentic AI, ReAct, RAG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LLM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LangChain + LangGraph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LLM Runtime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Ollama (remote hosted or local)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Default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gpt-oss:20b (20B parameter OSS model)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Embeddings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nomic-embed-text via Ollama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Secret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HashiCorp Vault (optional)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pytest with 75% coverage requirement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Package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uv (next-gen pip replacement)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474720" cy="1097280"/>
          </a:xfrm>
          <a:prstGeom prst="rect">
            <a:avLst/>
          </a:prstGeom>
          <a:solidFill>
            <a:srgbClr val="F0F0F0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0078D4"/>
                </a:solidFill>
              </a:defRPr>
            </a:pPr>
            <a:r>
              <a:t>🚀 SDK Scaffolding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Generate production-ready projects in &lt;2 minutes with ai-agent-builder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011680"/>
            <a:ext cx="3474720" cy="1097280"/>
          </a:xfrm>
          <a:prstGeom prst="rect">
            <a:avLst/>
          </a:prstGeom>
          <a:solidFill>
            <a:srgbClr val="F0F0F0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0078D4"/>
                </a:solidFill>
              </a:defRPr>
            </a:pPr>
            <a:r>
              <a:t>🏭 Shared Architecture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Reusable LLM factory, prompts, utilities across all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40"/>
            <a:ext cx="3474720" cy="1097280"/>
          </a:xfrm>
          <a:prstGeom prst="rect">
            <a:avLst/>
          </a:prstGeom>
          <a:solidFill>
            <a:srgbClr val="F0F0F0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0078D4"/>
                </a:solidFill>
              </a:defRPr>
            </a:pPr>
            <a:r>
              <a:t>🔌 Composable Integrations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Mix-and-match vector stores, caching, 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291840"/>
            <a:ext cx="3474720" cy="1097280"/>
          </a:xfrm>
          <a:prstGeom prst="rect">
            <a:avLst/>
          </a:prstGeom>
          <a:solidFill>
            <a:srgbClr val="F0F0F0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0078D4"/>
                </a:solidFill>
              </a:defRPr>
            </a:pPr>
            <a:r>
              <a:t>🧪 Built-in Testing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Pre-configured pytest fixtures, 90% coverage templates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3474720" cy="1097280"/>
          </a:xfrm>
          <a:prstGeom prst="rect">
            <a:avLst/>
          </a:prstGeom>
          <a:solidFill>
            <a:srgbClr val="F0F0F0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0078D4"/>
                </a:solidFill>
              </a:defRPr>
            </a:pPr>
            <a:r>
              <a:t>🔐 Enterprise-Ready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Vault integration, rate limiting, retry logic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572000"/>
            <a:ext cx="3474720" cy="1097280"/>
          </a:xfrm>
          <a:prstGeom prst="rect">
            <a:avLst/>
          </a:prstGeom>
          <a:solidFill>
            <a:srgbClr val="F0F0F0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0078D4"/>
                </a:solidFill>
              </a:defRPr>
            </a:pPr>
            <a:r>
              <a:t>📚 Learning Resources</a:t>
            </a:r>
          </a:p>
          <a:p>
            <a:pPr>
              <a:spcBef>
                <a:spcPts val="400"/>
              </a:spcBef>
              <a:defRPr sz="1000">
                <a:solidFill>
                  <a:srgbClr val="323232"/>
                </a:solidFill>
              </a:defRPr>
            </a:pPr>
            <a:r>
              <a:t>Quick-reference guides for Agentic AI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7C10"/>
                </a:solidFill>
              </a:defRPr>
            </a:pPr>
            <a:r>
              <a:t>The SDK: AI Agent Builder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7C10"/>
                </a:solidFill>
              </a:defRPr>
            </a:pPr>
            <a:r>
              <a:t>Automated Project Scaffolding That Accelerates Development by 87%</a:t>
            </a:r>
          </a:p>
          <a:p>
            <a:pPr>
              <a:spcBef>
                <a:spcPts val="800"/>
              </a:spcBef>
              <a:defRPr sz="1300" b="1">
                <a:solidFill>
                  <a:srgbClr val="0078D4"/>
                </a:solidFill>
              </a:defRPr>
            </a:pPr>
            <a:r>
              <a:t>Before SDK (Manual Setup - 15 minutes)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Manually create directory structure (src/, tests/)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Copy-paste boilerplate from existing projects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Configure .env files with 10+ environment variables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Write pytest fixtures for mocking LLMs, vector stores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Add integration code from scratch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Update root README with new project entry</a:t>
            </a:r>
          </a:p>
          <a:p>
            <a:pPr>
              <a:spcBef>
                <a:spcPts val="800"/>
              </a:spcBef>
              <a:defRPr sz="1300" b="1">
                <a:solidFill>
                  <a:srgbClr val="0078D4"/>
                </a:solidFill>
              </a:defRPr>
            </a:pPr>
            <a:r>
              <a:t>With SDK (Automated - &lt;2 minutes)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One command: ai-agent-builder new-project 05_my_agent --integrations pgvector,redis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Complete project structure generated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.venv created and dependencies installed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Integration code auto-generated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75% coverage test templates included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✓ Documentation auto-generated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Core Architecture &amp; Shared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1300" b="1">
                <a:solidFill>
                  <a:srgbClr val="107C10"/>
                </a:solidFill>
              </a:defRPr>
            </a:pPr>
            <a:r>
              <a:t>common/ Package (Always Available)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llm_factory.py: Centralized LLM builders (get_llm, get_chat_llm, get_embeddings)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vault.py: HashiCorp Vault integration with .env fallback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rate_limiter.py: Token bucket algorithm for API rate limiting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retry.py: Exponential backoff for transient failures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token_counter.py: Track LLM usage and estimate costs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cache/: Thread-safe LRU cache with TTL support for simple projects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prompts/: Shared prompt templates (QA, RAG, ReAct)</a:t>
            </a:r>
          </a:p>
          <a:p>
            <a:pPr>
              <a:spcBef>
                <a:spcPts val="800"/>
              </a:spcBef>
              <a:defRPr sz="1300" b="1">
                <a:solidFill>
                  <a:srgbClr val="107C10"/>
                </a:solidFill>
              </a:defRPr>
            </a:pPr>
            <a:r>
              <a:t>Project Structure (Auto-Generated)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src/main.py: Entry point with common/ imports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tests/: pytest fixtures with 75% coverage template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.env.example: Template for environment variables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requirements.txt: Project-specific dependencies only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README.md: Setup instructions and sample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Composable Integration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56616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Vector Stores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Chroma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Local development, rapid prototyping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pgvector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Production PostgreSQL + vector search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High-performance local similarity search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Caching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In-memory LLM response caching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Langfuse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Tracing, cost tracking, evaluations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Ansible AWX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Scheduled execution, RBAC, audit trails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07C10"/>
                </a:solidFill>
              </a:defRPr>
            </a:pPr>
            <a:r>
              <a:t>✓ Mix-and-match integrations with a single CLI command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Environment Awareness &amp;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7C10"/>
                </a:solidFill>
              </a:defRPr>
            </a:pPr>
            <a:r>
              <a:t>Hierarchical Environment Management with Vault Integration</a:t>
            </a:r>
          </a:p>
          <a:p>
            <a:pPr>
              <a:spcBef>
                <a:spcPts val="1000"/>
              </a:spcBef>
              <a:defRPr sz="1300" b="1">
                <a:solidFill>
                  <a:srgbClr val="0078D4"/>
                </a:solidFill>
              </a:defRPr>
            </a:pPr>
            <a:r>
              <a:t>Two-Tier Environment Strategy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Root .env for common variables (OLLAMA_*, VAULT_*, LOG_LEVEL)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Project .env for integration-specific variables (GITHUB_*, REDIS_*)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Automatic hierarchical loading via load_project_env()</a:t>
            </a:r>
          </a:p>
          <a:p>
            <a:pPr>
              <a:spcBef>
                <a:spcPts val="1000"/>
              </a:spcBef>
              <a:defRPr sz="1300" b="1">
                <a:solidFill>
                  <a:srgbClr val="0078D4"/>
                </a:solidFill>
              </a:defRPr>
            </a:pPr>
            <a:r>
              <a:t>HashiCorp Vault Integration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Centralized secret management for team collaboration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Automatic fallback to .env if Vault unreachable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Zero code changes - credential source is transparent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Backward compatible - Vault disabled by default</a:t>
            </a:r>
          </a:p>
          <a:p>
            <a:pPr>
              <a:spcBef>
                <a:spcPts val="1000"/>
              </a:spcBef>
              <a:defRPr sz="1300" b="1">
                <a:solidFill>
                  <a:srgbClr val="0078D4"/>
                </a:solidFill>
              </a:defRPr>
            </a:pPr>
            <a:r>
              <a:t>Configuration Validation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require_env() raises clear errors for missing variables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.env.example templates for every project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SDK validates configuration during scaffolding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7C10"/>
                </a:solidFill>
              </a:defRPr>
            </a:pPr>
            <a:r>
              <a:t>Production-Ready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474720" cy="1234440"/>
          </a:xfrm>
          <a:prstGeom prst="rect">
            <a:avLst/>
          </a:prstGeom>
          <a:solidFill>
            <a:srgbClr val="F0F0F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107C10"/>
                </a:solidFill>
              </a:defRPr>
            </a:pPr>
            <a:r>
              <a:t>🔒 Security</a:t>
            </a:r>
          </a:p>
          <a:p>
            <a:pPr>
              <a:spcBef>
                <a:spcPts val="400"/>
              </a:spcBef>
              <a:defRPr sz="900">
                <a:solidFill>
                  <a:srgbClr val="323232"/>
                </a:solidFill>
              </a:defRPr>
            </a:pPr>
            <a:r>
              <a:t>• HashiCorp Vault integration</a:t>
            </a:r>
            <a:br/>
            <a:r>
              <a:t>• API key rotation support</a:t>
            </a:r>
            <a:br/>
            <a:r>
              <a:t>• Secure .env file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011680"/>
            <a:ext cx="3474720" cy="1234440"/>
          </a:xfrm>
          <a:prstGeom prst="rect">
            <a:avLst/>
          </a:prstGeom>
          <a:solidFill>
            <a:srgbClr val="F0F0F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107C10"/>
                </a:solidFill>
              </a:defRPr>
            </a:pPr>
            <a:r>
              <a:t>⚡ Performance</a:t>
            </a:r>
          </a:p>
          <a:p>
            <a:pPr>
              <a:spcBef>
                <a:spcPts val="400"/>
              </a:spcBef>
              <a:defRPr sz="900">
                <a:solidFill>
                  <a:srgbClr val="323232"/>
                </a:solidFill>
              </a:defRPr>
            </a:pPr>
            <a:r>
              <a:t>• Rate limiting (token bucket)</a:t>
            </a:r>
            <a:br/>
            <a:r>
              <a:t>• LRU in-memory cache</a:t>
            </a:r>
            <a:br/>
            <a:r>
              <a:t>• Redis caching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3474720" cy="1234440"/>
          </a:xfrm>
          <a:prstGeom prst="rect">
            <a:avLst/>
          </a:prstGeom>
          <a:solidFill>
            <a:srgbClr val="F0F0F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107C10"/>
                </a:solidFill>
              </a:defRPr>
            </a:pPr>
            <a:r>
              <a:t>🛡️ Reliability</a:t>
            </a:r>
          </a:p>
          <a:p>
            <a:pPr>
              <a:spcBef>
                <a:spcPts val="400"/>
              </a:spcBef>
              <a:defRPr sz="900">
                <a:solidFill>
                  <a:srgbClr val="323232"/>
                </a:solidFill>
              </a:defRPr>
            </a:pPr>
            <a:r>
              <a:t>• Exponential backoff retry logic</a:t>
            </a:r>
            <a:br/>
            <a:r>
              <a:t>• Circuit breaker pattern</a:t>
            </a:r>
            <a:br/>
            <a:r>
              <a:t>• Graceful degradation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383280"/>
            <a:ext cx="3474720" cy="1234440"/>
          </a:xfrm>
          <a:prstGeom prst="rect">
            <a:avLst/>
          </a:prstGeom>
          <a:solidFill>
            <a:srgbClr val="F0F0F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107C10"/>
                </a:solidFill>
              </a:defRPr>
            </a:pPr>
            <a:r>
              <a:t>📊 Observability</a:t>
            </a:r>
          </a:p>
          <a:p>
            <a:pPr>
              <a:spcBef>
                <a:spcPts val="400"/>
              </a:spcBef>
              <a:defRPr sz="900">
                <a:solidFill>
                  <a:srgbClr val="323232"/>
                </a:solidFill>
              </a:defRPr>
            </a:pPr>
            <a:r>
              <a:t>• Langfuse tracing (always-on)</a:t>
            </a:r>
            <a:br/>
            <a:r>
              <a:t>• Cost tracking &amp; analytics</a:t>
            </a:r>
            <a:br/>
            <a:r>
              <a:t>• Structured logging (LOG_LEVEL)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54880"/>
            <a:ext cx="3474720" cy="1234440"/>
          </a:xfrm>
          <a:prstGeom prst="rect">
            <a:avLst/>
          </a:prstGeom>
          <a:solidFill>
            <a:srgbClr val="F0F0F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107C10"/>
                </a:solidFill>
              </a:defRPr>
            </a:pPr>
            <a:r>
              <a:t>🧪 Quality</a:t>
            </a:r>
          </a:p>
          <a:p>
            <a:pPr>
              <a:spcBef>
                <a:spcPts val="400"/>
              </a:spcBef>
              <a:defRPr sz="900">
                <a:solidFill>
                  <a:srgbClr val="323232"/>
                </a:solidFill>
              </a:defRPr>
            </a:pPr>
            <a:r>
              <a:t>• 75% test coverage enforcement</a:t>
            </a:r>
            <a:br/>
            <a:r>
              <a:t>• Mocked LLMs in tests</a:t>
            </a:r>
            <a:br/>
            <a:r>
              <a:t>• Automated test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754880"/>
            <a:ext cx="3474720" cy="1234440"/>
          </a:xfrm>
          <a:prstGeom prst="rect">
            <a:avLst/>
          </a:prstGeom>
          <a:solidFill>
            <a:srgbClr val="F0F0F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300" b="1">
                <a:solidFill>
                  <a:srgbClr val="107C10"/>
                </a:solidFill>
              </a:defRPr>
            </a:pPr>
            <a:r>
              <a:t>📦 DevEx</a:t>
            </a:r>
          </a:p>
          <a:p>
            <a:pPr>
              <a:spcBef>
                <a:spcPts val="400"/>
              </a:spcBef>
              <a:defRPr sz="900">
                <a:solidFill>
                  <a:srgbClr val="323232"/>
                </a:solidFill>
              </a:defRPr>
            </a:pPr>
            <a:r>
              <a:t>• uv package manager (10x faster)</a:t>
            </a:r>
            <a:br/>
            <a:r>
              <a:t>• Isolated .venv per project</a:t>
            </a:r>
            <a:br/>
            <a:r>
              <a:t>• One-command scaffolding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E2E Automation Maturity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22860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Tools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Characteristics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 🔴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Manual Operations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SSH, CLI, Runbooks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Ad-hoc, error-prone, no audit trail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 🟠</a:t>
                      </a:r>
                    </a:p>
                  </a:txBody>
                  <a:tcPr>
                    <a:solidFill>
                      <a:srgbClr val="FFE6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Scripted Automation</a:t>
                      </a:r>
                    </a:p>
                  </a:txBody>
                  <a:tcPr>
                    <a:solidFill>
                      <a:srgbClr val="FFE6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Bash, Python, CI/CD</a:t>
                      </a:r>
                    </a:p>
                  </a:txBody>
                  <a:tcPr>
                    <a:solidFill>
                      <a:srgbClr val="FFE6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Repeatable but brittle, human oversight</a:t>
                      </a:r>
                    </a:p>
                  </a:txBody>
                  <a:tcPr>
                    <a:solidFill>
                      <a:srgbClr val="FFE6C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 🟡</a:t>
                      </a:r>
                    </a:p>
                  </a:txBody>
                  <a:tcPr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Orchestrated</a:t>
                      </a:r>
                    </a:p>
                  </a:txBody>
                  <a:tcPr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Ansible, Terraform, Vault</a:t>
                      </a:r>
                    </a:p>
                  </a:txBody>
                  <a:tcPr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IaC, idempotent, RBAC, centralized</a:t>
                      </a:r>
                    </a:p>
                  </a:txBody>
                  <a:tcPr>
                    <a:solidFill>
                      <a:srgbClr val="FFFFC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 🟢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Intelligent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LangChain, Ollama, RAG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Context-aware, AI-assisted, predictive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 🟣</a:t>
                      </a:r>
                    </a:p>
                  </a:txBody>
                  <a:tcPr>
                    <a:solidFill>
                      <a:srgbClr val="E6C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Agentic AI</a:t>
                      </a:r>
                    </a:p>
                  </a:txBody>
                  <a:tcPr>
                    <a:solidFill>
                      <a:srgbClr val="E6C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LangGraph, Multi-Agent</a:t>
                      </a:r>
                    </a:p>
                  </a:txBody>
                  <a:tcPr>
                    <a:solidFill>
                      <a:srgbClr val="E6C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Fully autonomous, self-healing, zero-touch</a:t>
                      </a:r>
                    </a:p>
                  </a:txBody>
                  <a:tcPr>
                    <a:solidFill>
                      <a:srgbClr val="E6C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Current Projects &amp;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7C10"/>
                </a:solidFill>
              </a:defRPr>
            </a:pPr>
            <a:r>
              <a:t>Live Projects Demonstrating Framework Capabilities</a:t>
            </a:r>
          </a:p>
          <a:p>
            <a:pPr>
              <a:spcBef>
                <a:spcPts val="0"/>
              </a:spcBef>
              <a:defRPr sz="1200" b="1">
                <a:solidFill>
                  <a:srgbClr val="0078D4"/>
                </a:solidFill>
              </a:defRPr>
            </a:pPr>
            <a:r>
              <a:t>01 - Hello LangChain</a:t>
            </a:r>
          </a:p>
          <a:p>
            <a:pPr>
              <a:spcAft>
                <a:spcPts val="200"/>
              </a:spcAft>
              <a:defRPr sz="1000" i="1">
                <a:solidFill>
                  <a:srgbClr val="107C10"/>
                </a:solidFill>
              </a:defRPr>
            </a:pPr>
            <a:r>
              <a:t>[LCEL Chain]</a:t>
            </a:r>
          </a:p>
          <a:p>
            <a:pPr lvl="1"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Minimal working example demonstrating chain setup, LLM invocation, and prompt templating</a:t>
            </a:r>
          </a:p>
          <a:p>
            <a:pPr>
              <a:spcBef>
                <a:spcPts val="1000"/>
              </a:spcBef>
              <a:defRPr sz="1200" b="1">
                <a:solidFill>
                  <a:srgbClr val="0078D4"/>
                </a:solidFill>
              </a:defRPr>
            </a:pPr>
            <a:r>
              <a:t>02 - Automation Maturity Model</a:t>
            </a:r>
          </a:p>
          <a:p>
            <a:pPr>
              <a:spcAft>
                <a:spcPts val="200"/>
              </a:spcAft>
              <a:defRPr sz="1000" i="1">
                <a:solidFill>
                  <a:srgbClr val="107C10"/>
                </a:solidFill>
              </a:defRPr>
            </a:pPr>
            <a:r>
              <a:t>[Visualization]</a:t>
            </a:r>
          </a:p>
          <a:p>
            <a:pPr lvl="1"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Interactive HTML animation of 5-level maturity model (Manual → Agentic AI)</a:t>
            </a:r>
          </a:p>
          <a:p>
            <a:pPr>
              <a:spcBef>
                <a:spcPts val="1000"/>
              </a:spcBef>
              <a:defRPr sz="1200" b="1">
                <a:solidFill>
                  <a:srgbClr val="0078D4"/>
                </a:solidFill>
              </a:defRPr>
            </a:pPr>
            <a:r>
              <a:t>03 - Weather Reporting Agent</a:t>
            </a:r>
          </a:p>
          <a:p>
            <a:pPr>
              <a:spcAft>
                <a:spcPts val="200"/>
              </a:spcAft>
              <a:defRPr sz="1000" i="1">
                <a:solidFill>
                  <a:srgbClr val="107C10"/>
                </a:solidFill>
              </a:defRPr>
            </a:pPr>
            <a:r>
              <a:t>[LangGraph Agent]</a:t>
            </a:r>
          </a:p>
          <a:p>
            <a:pPr lvl="1"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ReAct pattern agent with tool calling for weather data retrieval</a:t>
            </a:r>
          </a:p>
          <a:p>
            <a:pPr>
              <a:spcBef>
                <a:spcPts val="1000"/>
              </a:spcBef>
              <a:defRPr sz="1200" b="1">
                <a:solidFill>
                  <a:srgbClr val="0078D4"/>
                </a:solidFill>
              </a:defRPr>
            </a:pPr>
            <a:r>
              <a:t>04 - GitHub Issue Reporter</a:t>
            </a:r>
          </a:p>
          <a:p>
            <a:pPr>
              <a:spcAft>
                <a:spcPts val="200"/>
              </a:spcAft>
              <a:defRPr sz="1000" i="1">
                <a:solidFill>
                  <a:srgbClr val="107C10"/>
                </a:solidFill>
              </a:defRPr>
            </a:pPr>
            <a:r>
              <a:t>[Advanced ReAct Agent]</a:t>
            </a:r>
          </a:p>
          <a:p>
            <a:pPr lvl="1"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Automated issue triage with 3 modes: report generation, AI-powered recommendations, auto-analyze batch processing. Posts collapsible recommendations to GitHub with duplicate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7C10"/>
                </a:solidFill>
              </a:defRPr>
            </a:pPr>
            <a:r>
              <a:t>Future Roadmap &amp; Planned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1200" b="1">
                <a:solidFill>
                  <a:srgbClr val="107C10"/>
                </a:solidFill>
              </a:defRPr>
            </a:pPr>
            <a:r>
              <a:t>Q2 2026 - Enhanced Integration Ecosystem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Document loaders (PDF, Web scraping, Office documents)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Additional vector stores (Pinecone, Weaviate, Qdrant)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Advanced caching strategies (semantic caching)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LLM provider expansion (OpenAI, Anthropic, Cohere APIs)</a:t>
            </a:r>
          </a:p>
          <a:p>
            <a:pPr>
              <a:spcBef>
                <a:spcPts val="800"/>
              </a:spcBef>
              <a:defRPr sz="1200" b="1">
                <a:solidFill>
                  <a:srgbClr val="107C10"/>
                </a:solidFill>
              </a:defRPr>
            </a:pPr>
            <a:r>
              <a:t>Q3 2026 - Advanced Agent Capabilities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Multi-agent orchestration templates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Human-in-the-loop patterns and approval workflows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Agent memory systems (conversation history, long-term storage)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Streaming response support for real-time applications</a:t>
            </a:r>
          </a:p>
          <a:p>
            <a:pPr>
              <a:spcBef>
                <a:spcPts val="800"/>
              </a:spcBef>
              <a:defRPr sz="1200" b="1">
                <a:solidFill>
                  <a:srgbClr val="107C10"/>
                </a:solidFill>
              </a:defRPr>
            </a:pPr>
            <a:r>
              <a:t>Q4 2026 - Enterprise Features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Advanced monitoring and alerting (Prometheus, Grafana)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A/B testing framework for prompt optimization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Cost optimization tools and LLM usage analytics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Kubernetes deployment templates and CI/CD pipelines</a:t>
            </a:r>
          </a:p>
          <a:p>
            <a:pPr>
              <a:spcBef>
                <a:spcPts val="800"/>
              </a:spcBef>
              <a:defRPr sz="1200" b="1">
                <a:solidFill>
                  <a:srgbClr val="107C10"/>
                </a:solidFill>
              </a:defRPr>
            </a:pPr>
            <a:r>
              <a:t>2027 - Platform Evolution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Visual agent builder (low-code interface)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Agent marketplace for sharing reusable components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Production deployment automation</a:t>
            </a:r>
          </a:p>
          <a:p>
            <a:pPr lvl="1"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SaaS offering for managed agent hosting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Business Benefits &amp;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1828800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87%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Faster Setup</a:t>
            </a:r>
          </a:p>
          <a:p>
            <a:pPr algn="ctr">
              <a:spcBef>
                <a:spcPts val="400"/>
              </a:spcBef>
              <a:defRPr sz="1000">
                <a:solidFill>
                  <a:srgbClr val="DCF0FF"/>
                </a:solidFill>
              </a:defRPr>
            </a:pPr>
            <a:r>
              <a:t>15 min → 2 min per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80" y="2011680"/>
            <a:ext cx="1828800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75%+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Coverage</a:t>
            </a:r>
          </a:p>
          <a:p>
            <a:pPr algn="ctr">
              <a:spcBef>
                <a:spcPts val="400"/>
              </a:spcBef>
              <a:defRPr sz="1000">
                <a:solidFill>
                  <a:srgbClr val="DCF0FF"/>
                </a:solidFill>
              </a:defRPr>
            </a:pPr>
            <a:r>
              <a:t>Quality assurance enforced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2011680"/>
            <a:ext cx="1828800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10x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Package Speed</a:t>
            </a:r>
          </a:p>
          <a:p>
            <a:pPr algn="ctr">
              <a:spcBef>
                <a:spcPts val="400"/>
              </a:spcBef>
              <a:defRPr sz="1000">
                <a:solidFill>
                  <a:srgbClr val="DCF0FF"/>
                </a:solidFill>
              </a:defRPr>
            </a:pPr>
            <a:r>
              <a:t>uv vs traditional pip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2011680"/>
            <a:ext cx="1828800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Zero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Boilerplate</a:t>
            </a:r>
          </a:p>
          <a:p>
            <a:pPr algn="ctr">
              <a:spcBef>
                <a:spcPts val="400"/>
              </a:spcBef>
              <a:defRPr sz="1000">
                <a:solidFill>
                  <a:srgbClr val="DCF0FF"/>
                </a:solidFill>
              </a:defRPr>
            </a:pPr>
            <a:r>
              <a:t>Auto-generated scaffolding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7C10"/>
                </a:solidFill>
              </a:defRPr>
            </a:pPr>
            <a:r>
              <a:t>Tangible Business Value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✓ Reduced Time-to-Market: Launch AI initiatives 87% faster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✓ Lower Development Costs: Eliminate repetitive boilerplate work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✓ Improved Code Quality: Enforced 75% test coverage across all projects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✓ Enhanced Maintainability: Standardized architecture and shared components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✓ Enterprise Compliance: Built-in security, observability, and audit trails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✓ Knowledge Retention: Self-documenting codebase with learning resources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1. Pilot Project: Select a high-value use case for framework evaluation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2. Team Training: 2-day workshop on LangChain, LangGraph, and framework SDK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3. Infrastructure Setup: Deploy Ollama server and Vault for team collaboration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4. Development Sprint: Build 3-5 agents using the framework over 4 weeks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5. Production Rollout: Deploy first agent and measure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DCFFDC"/>
                </a:solidFill>
              </a:defRPr>
            </a:pPr>
            <a:r>
              <a:t>Ready to accelerate your AI development?</a:t>
            </a:r>
          </a:p>
          <a:p>
            <a:r>
              <a:t>Let's discuss how this framework can transform your team's productivity.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